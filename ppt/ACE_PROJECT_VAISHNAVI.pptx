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10287000" cx="18288000"/>
  <p:notesSz cx="6858000" cy="9144000"/>
  <p:embeddedFontLst>
    <p:embeddedFont>
      <p:font typeface="Playfair Display"/>
      <p:bold r:id="rId34"/>
      <p:boldItalic r:id="rId35"/>
    </p:embeddedFont>
    <p:embeddedFont>
      <p:font typeface="Inter"/>
      <p:regular r:id="rId36"/>
      <p:bold r:id="rId37"/>
      <p:italic r:id="rId38"/>
      <p:boldItalic r:id="rId39"/>
    </p:embeddedFont>
    <p:embeddedFont>
      <p:font typeface="Nunito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4" roundtripDataSignature="AMtx7mhIZxONBMwpO3KzpSwQv3ZTqYbb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Sans-regular.fntdata"/><Relationship Id="rId20" Type="http://schemas.openxmlformats.org/officeDocument/2006/relationships/slide" Target="slides/slide15.xml"/><Relationship Id="rId42" Type="http://schemas.openxmlformats.org/officeDocument/2006/relationships/font" Target="fonts/NunitoSans-italic.fntdata"/><Relationship Id="rId41" Type="http://schemas.openxmlformats.org/officeDocument/2006/relationships/font" Target="fonts/NunitoSans-bold.fntdata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font" Target="fonts/NunitoSans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PlayfairDisplay-boldItalic.fntdata"/><Relationship Id="rId12" Type="http://schemas.openxmlformats.org/officeDocument/2006/relationships/slide" Target="slides/slide7.xml"/><Relationship Id="rId34" Type="http://schemas.openxmlformats.org/officeDocument/2006/relationships/font" Target="fonts/PlayfairDisplay-bold.fntdata"/><Relationship Id="rId15" Type="http://schemas.openxmlformats.org/officeDocument/2006/relationships/slide" Target="slides/slide10.xml"/><Relationship Id="rId37" Type="http://schemas.openxmlformats.org/officeDocument/2006/relationships/font" Target="fonts/Inter-bold.fntdata"/><Relationship Id="rId14" Type="http://schemas.openxmlformats.org/officeDocument/2006/relationships/slide" Target="slides/slide9.xml"/><Relationship Id="rId36" Type="http://schemas.openxmlformats.org/officeDocument/2006/relationships/font" Target="fonts/Inter-regular.fntdata"/><Relationship Id="rId17" Type="http://schemas.openxmlformats.org/officeDocument/2006/relationships/slide" Target="slides/slide12.xml"/><Relationship Id="rId39" Type="http://schemas.openxmlformats.org/officeDocument/2006/relationships/font" Target="fonts/Inter-boldItalic.fntdata"/><Relationship Id="rId16" Type="http://schemas.openxmlformats.org/officeDocument/2006/relationships/slide" Target="slides/slide11.xml"/><Relationship Id="rId38" Type="http://schemas.openxmlformats.org/officeDocument/2006/relationships/font" Target="fonts/Inter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9" name="Google Shape;289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90" name="Google Shape;290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Make it simple → Finance is already stressful, the UI shouldn’t be.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Make it clear → Users shouldn’t have to “figure things out” like it’s a puzzle.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Keep it consistent → Same patterns everywhere so users don’t feel lost.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Give control → Users should feel like they’re managing their money, not guessing.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Keep it clean → If it looks messy, it feels messy (and no one trusts messy money apps).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Dark theme → Easy on the eyes, especially for long usage (and it just looks cooler).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Teal base → Feels calm, stable, and trustworthy (exactly what you want from a finance app).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Gold accents → Used sparingly to highlight important things (not everything deserves gold).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Minimal components → Cards, buttons, lists. Kept it simple so it’s easy to scale.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Typography → Clean and readable. Important stuff is big, less important stuff stays quiet.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Dark theme → Easy on the eyes, especially for long usage (and it just looks cooler).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Teal base → Feels calm, stable, and trustworthy (exactly what you want from a finance app).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Gold accents → Used sparingly to highlight important things (not everything deserves gold).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Minimal components → Cards, buttons, lists. Kept it simple so it’s easy to scale.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Typography → Clean and readable. Important stuff is big, less important stuff stays quiet.</a:t>
            </a:r>
            <a:endParaRPr/>
          </a:p>
        </p:txBody>
      </p:sp>
      <p:sp>
        <p:nvSpPr>
          <p:cNvPr id="292" name="Google Shape;292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3" name="Google Shape;293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0" name="Google Shape;310;p1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11" name="Google Shape;311;p1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Make it simple → Finance is already stressful, the UI shouldn’t be.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Make it clear → Users shouldn’t have to “figure things out” like it’s a puzzle.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Keep it consistent → Same patterns everywhere so users don’t feel lost.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Give control → Users should feel like they’re managing their money, not guessing.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Keep it clean → If it looks messy, it feels messy (and no one trusts messy money apps).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Dark theme → Easy on the eyes, especially for long usage (and it just looks cooler).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Teal base → Feels calm, stable, and trustworthy (exactly what you want from a finance app).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Gold accents → Used sparingly to highlight important things (not everything deserves gold).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Minimal components → Cards, buttons, lists. Kept it simple so it’s easy to scale.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Typography → Clean and readable. Important stuff is big, less important stuff stays quiet.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Dark theme → Easy on the eyes, especially for long usage (and it just looks cooler).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Teal base → Feels calm, stable, and trustworthy (exactly what you want from a finance app).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Gold accents → Used sparingly to highlight important things (not everything deserves gold).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Minimal components → Cards, buttons, lists. Kept it simple so it’s easy to scale.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Typography → Clean and readable. Important stuff is big, less important stuff stays quiet.</a:t>
            </a:r>
            <a:endParaRPr/>
          </a:p>
        </p:txBody>
      </p:sp>
      <p:sp>
        <p:nvSpPr>
          <p:cNvPr id="313" name="Google Shape;313;p1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4" name="Google Shape;314;p1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1" name="Google Shape;321;p1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22" name="Google Shape;322;p1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Make it simple → Finance is already stressful, the UI shouldn’t be.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Make it clear → Users shouldn’t have to “figure things out” like it’s a puzzle.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Keep it consistent → Same patterns everywhere so users don’t feel lost.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Give control → Users should feel like they’re managing their money, not guessing.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Keep it clean → If it looks messy, it feels messy (and no one trusts messy money apps).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Dark theme → Easy on the eyes, especially for long usage (and it just looks cooler).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Teal base → Feels calm, stable, and trustworthy (exactly what you want from a finance app).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Gold accents → Used sparingly to highlight important things (not everything deserves gold).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Minimal components → Cards, buttons, lists. Kept it simple so it’s easy to scale.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Typography → Clean and readable. Important stuff is big, less important stuff stays quiet.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Dark theme → Easy on the eyes, especially for long usage (and it just looks cooler).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Teal base → Feels calm, stable, and trustworthy (exactly what you want from a finance app).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Gold accents → Used sparingly to highlight important things (not everything deserves gold).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Minimal components → Cards, buttons, lists. Kept it simple so it’s easy to scale.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Typography → Clean and readable. Important stuff is big, less important stuff stays quiet.</a:t>
            </a:r>
            <a:endParaRPr/>
          </a:p>
        </p:txBody>
      </p:sp>
      <p:sp>
        <p:nvSpPr>
          <p:cNvPr id="324" name="Google Shape;324;p1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5" name="Google Shape;325;p1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4" name="Google Shape;334;p1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35" name="Google Shape;335;p1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Teal provides a calm and trustworthy base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Consistent layout improves usability and reduces confusion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Gold highlights guide attention to important actions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slight ligher blue for text to be readable</a:t>
            </a:r>
            <a:endParaRPr/>
          </a:p>
        </p:txBody>
      </p:sp>
      <p:sp>
        <p:nvSpPr>
          <p:cNvPr id="337" name="Google Shape;337;p1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8" name="Google Shape;338;p1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0" name="Google Shape;360;p1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61" name="Google Shape;361;p1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1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Teal provides a calm and trustworthy base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Consistent layout improves usability and reduces confusion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Gold highlights guide attention to important actions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slight ligher blue for text to be readable</a:t>
            </a:r>
            <a:endParaRPr/>
          </a:p>
        </p:txBody>
      </p:sp>
      <p:sp>
        <p:nvSpPr>
          <p:cNvPr id="363" name="Google Shape;363;p1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4" name="Google Shape;364;p1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9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0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5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8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3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3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11.png"/><Relationship Id="rId7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figma.com/proto/pl3WRsjK2LTJZ1DKLOg2vB/Project?page-id=46%3A524&amp;node-id=345-654&amp;viewport=-1390%2C1443%2C0.2&amp;t=GOjLibvS5Jp9Ea7m-1&amp;scaling=scale-down&amp;content-scaling=fixed&amp;starting-point-node-id=345%3A649&amp;show-proto-sidebar=1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F3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"/>
          <p:cNvGrpSpPr/>
          <p:nvPr/>
        </p:nvGrpSpPr>
        <p:grpSpPr>
          <a:xfrm rot="1239766">
            <a:off x="11104307" y="2542772"/>
            <a:ext cx="4803152" cy="9761555"/>
            <a:chOff x="0" y="0"/>
            <a:chExt cx="5000993" cy="10163632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5000993" cy="10163632"/>
            </a:xfrm>
            <a:custGeom>
              <a:rect b="b" l="l" r="r" t="t"/>
              <a:pathLst>
                <a:path extrusionOk="0"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45" r="-45" t="0"/>
              </a:stretch>
            </a:blipFill>
            <a:ln>
              <a:noFill/>
            </a:ln>
          </p:spPr>
        </p:sp>
        <p:sp>
          <p:nvSpPr>
            <p:cNvPr id="90" name="Google Shape;90;p1"/>
            <p:cNvSpPr/>
            <p:nvPr/>
          </p:nvSpPr>
          <p:spPr>
            <a:xfrm>
              <a:off x="338760" y="288798"/>
              <a:ext cx="4330776" cy="9398000"/>
            </a:xfrm>
            <a:custGeom>
              <a:rect b="b" l="l" r="r" t="t"/>
              <a:pathLst>
                <a:path extrusionOk="0"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89" l="0" r="0" t="-89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" name="Google Shape;91;p1"/>
          <p:cNvGrpSpPr/>
          <p:nvPr/>
        </p:nvGrpSpPr>
        <p:grpSpPr>
          <a:xfrm rot="1239766">
            <a:off x="14773841" y="-7187486"/>
            <a:ext cx="4803152" cy="9761555"/>
            <a:chOff x="0" y="0"/>
            <a:chExt cx="5000993" cy="10163632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5000993" cy="10163632"/>
            </a:xfrm>
            <a:custGeom>
              <a:rect b="b" l="l" r="r" t="t"/>
              <a:pathLst>
                <a:path extrusionOk="0"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45" r="-45" t="0"/>
              </a:stretch>
            </a:blipFill>
            <a:ln>
              <a:noFill/>
            </a:ln>
          </p:spPr>
        </p:sp>
        <p:sp>
          <p:nvSpPr>
            <p:cNvPr id="93" name="Google Shape;93;p1"/>
            <p:cNvSpPr/>
            <p:nvPr/>
          </p:nvSpPr>
          <p:spPr>
            <a:xfrm>
              <a:off x="338760" y="288798"/>
              <a:ext cx="4330776" cy="9398000"/>
            </a:xfrm>
            <a:custGeom>
              <a:rect b="b" l="l" r="r" t="t"/>
              <a:pathLst>
                <a:path extrusionOk="0"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93" l="0" r="0" t="-93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" name="Google Shape;94;p1"/>
          <p:cNvGrpSpPr/>
          <p:nvPr/>
        </p:nvGrpSpPr>
        <p:grpSpPr>
          <a:xfrm rot="1239766">
            <a:off x="14848674" y="8093680"/>
            <a:ext cx="4803152" cy="9761555"/>
            <a:chOff x="0" y="0"/>
            <a:chExt cx="5000993" cy="1016363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5000993" cy="10163632"/>
            </a:xfrm>
            <a:custGeom>
              <a:rect b="b" l="l" r="r" t="t"/>
              <a:pathLst>
                <a:path extrusionOk="0"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45" r="-45" t="0"/>
              </a:stretch>
            </a:blipFill>
            <a:ln>
              <a:noFill/>
            </a:ln>
          </p:spPr>
        </p:sp>
        <p:sp>
          <p:nvSpPr>
            <p:cNvPr id="96" name="Google Shape;96;p1"/>
            <p:cNvSpPr/>
            <p:nvPr/>
          </p:nvSpPr>
          <p:spPr>
            <a:xfrm>
              <a:off x="338760" y="288798"/>
              <a:ext cx="4330776" cy="9398000"/>
            </a:xfrm>
            <a:custGeom>
              <a:rect b="b" l="l" r="r" t="t"/>
              <a:pathLst>
                <a:path extrusionOk="0"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8398" l="0" r="0" t="-8398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" name="Google Shape;97;p1"/>
          <p:cNvGrpSpPr/>
          <p:nvPr/>
        </p:nvGrpSpPr>
        <p:grpSpPr>
          <a:xfrm rot="1239766">
            <a:off x="18518208" y="-1636578"/>
            <a:ext cx="4803152" cy="9761555"/>
            <a:chOff x="0" y="0"/>
            <a:chExt cx="5000993" cy="10163632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5000993" cy="10163632"/>
            </a:xfrm>
            <a:custGeom>
              <a:rect b="b" l="l" r="r" t="t"/>
              <a:pathLst>
                <a:path extrusionOk="0"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45" r="-45" t="0"/>
              </a:stretch>
            </a:blipFill>
            <a:ln>
              <a:noFill/>
            </a:ln>
          </p:spPr>
        </p:sp>
        <p:sp>
          <p:nvSpPr>
            <p:cNvPr id="99" name="Google Shape;99;p1"/>
            <p:cNvSpPr/>
            <p:nvPr/>
          </p:nvSpPr>
          <p:spPr>
            <a:xfrm>
              <a:off x="338760" y="288798"/>
              <a:ext cx="4330776" cy="9398000"/>
            </a:xfrm>
            <a:custGeom>
              <a:rect b="b" l="l" r="r" t="t"/>
              <a:pathLst>
                <a:path extrusionOk="0"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8398" l="0" r="0" t="-8398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" name="Google Shape;100;p1"/>
          <p:cNvGrpSpPr/>
          <p:nvPr/>
        </p:nvGrpSpPr>
        <p:grpSpPr>
          <a:xfrm rot="1239766">
            <a:off x="8417987" y="-5521980"/>
            <a:ext cx="4803152" cy="9761555"/>
            <a:chOff x="0" y="0"/>
            <a:chExt cx="5000993" cy="10163632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5000993" cy="10163632"/>
            </a:xfrm>
            <a:custGeom>
              <a:rect b="b" l="l" r="r" t="t"/>
              <a:pathLst>
                <a:path extrusionOk="0"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45" r="-45" t="0"/>
              </a:stretch>
            </a:blipFill>
            <a:ln>
              <a:noFill/>
            </a:ln>
          </p:spPr>
        </p:sp>
        <p:sp>
          <p:nvSpPr>
            <p:cNvPr id="102" name="Google Shape;102;p1"/>
            <p:cNvSpPr/>
            <p:nvPr/>
          </p:nvSpPr>
          <p:spPr>
            <a:xfrm>
              <a:off x="338760" y="288798"/>
              <a:ext cx="4330776" cy="9398000"/>
            </a:xfrm>
            <a:custGeom>
              <a:rect b="b" l="l" r="r" t="t"/>
              <a:pathLst>
                <a:path extrusionOk="0"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287" l="0" r="0" t="-287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"/>
          <p:cNvSpPr/>
          <p:nvPr/>
        </p:nvSpPr>
        <p:spPr>
          <a:xfrm>
            <a:off x="1028700" y="6909133"/>
            <a:ext cx="5734204" cy="1029084"/>
          </a:xfrm>
          <a:custGeom>
            <a:rect b="b" l="l" r="r" t="t"/>
            <a:pathLst>
              <a:path extrusionOk="0" h="1913890" w="10664471">
                <a:moveTo>
                  <a:pt x="10540011" y="1913890"/>
                </a:moveTo>
                <a:lnTo>
                  <a:pt x="124460" y="1913890"/>
                </a:lnTo>
                <a:cubicBezTo>
                  <a:pt x="55880" y="1913890"/>
                  <a:pt x="0" y="1858010"/>
                  <a:pt x="0" y="1789430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10540011" y="0"/>
                </a:lnTo>
                <a:cubicBezTo>
                  <a:pt x="10608590" y="0"/>
                  <a:pt x="10664471" y="55880"/>
                  <a:pt x="10664471" y="124460"/>
                </a:cubicBezTo>
                <a:lnTo>
                  <a:pt x="10664471" y="1789430"/>
                </a:lnTo>
                <a:cubicBezTo>
                  <a:pt x="10664471" y="1858010"/>
                  <a:pt x="10608590" y="1913890"/>
                  <a:pt x="10540011" y="1913890"/>
                </a:cubicBezTo>
                <a:close/>
              </a:path>
            </a:pathLst>
          </a:custGeom>
          <a:solidFill>
            <a:srgbClr val="052F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"/>
          <p:cNvSpPr/>
          <p:nvPr/>
        </p:nvSpPr>
        <p:spPr>
          <a:xfrm>
            <a:off x="2470579" y="4656129"/>
            <a:ext cx="974742" cy="974742"/>
          </a:xfrm>
          <a:custGeom>
            <a:rect b="b" l="l" r="r" t="t"/>
            <a:pathLst>
              <a:path extrusionOk="0" h="974742" w="974742">
                <a:moveTo>
                  <a:pt x="0" y="0"/>
                </a:moveTo>
                <a:lnTo>
                  <a:pt x="974742" y="0"/>
                </a:lnTo>
                <a:lnTo>
                  <a:pt x="974742" y="974742"/>
                </a:lnTo>
                <a:lnTo>
                  <a:pt x="0" y="9747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1"/>
          <p:cNvSpPr txBox="1"/>
          <p:nvPr/>
        </p:nvSpPr>
        <p:spPr>
          <a:xfrm>
            <a:off x="1408966" y="5158386"/>
            <a:ext cx="7530313" cy="2041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66" u="none" cap="none" strike="noStrike">
                <a:solidFill>
                  <a:srgbClr val="F9CF7E"/>
                </a:solidFill>
                <a:latin typeface="Georgia"/>
                <a:ea typeface="Georgia"/>
                <a:cs typeface="Georgia"/>
                <a:sym typeface="Georgia"/>
              </a:rPr>
              <a:t>fi</a:t>
            </a:r>
            <a:r>
              <a:rPr b="0" i="0" lang="en-US" sz="11866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nio</a:t>
            </a:r>
            <a:endParaRPr/>
          </a:p>
        </p:txBody>
      </p:sp>
      <p:sp>
        <p:nvSpPr>
          <p:cNvPr id="106" name="Google Shape;106;p1"/>
          <p:cNvSpPr txBox="1"/>
          <p:nvPr/>
        </p:nvSpPr>
        <p:spPr>
          <a:xfrm>
            <a:off x="1481554" y="7131610"/>
            <a:ext cx="4828496" cy="555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52" u="none" cap="none" strike="noStrike">
                <a:solidFill>
                  <a:srgbClr val="F9CF7E"/>
                </a:solidFill>
                <a:latin typeface="Inter"/>
                <a:ea typeface="Inter"/>
                <a:cs typeface="Inter"/>
                <a:sym typeface="Inter"/>
              </a:rPr>
              <a:t>Start with </a:t>
            </a:r>
            <a:r>
              <a:rPr b="0" i="0" lang="en-US" sz="3252" u="none" cap="none" strike="noStrike">
                <a:solidFill>
                  <a:srgbClr val="FFBD59"/>
                </a:solidFill>
                <a:latin typeface="Inter"/>
                <a:ea typeface="Inter"/>
                <a:cs typeface="Inter"/>
                <a:sym typeface="Inter"/>
              </a:rPr>
              <a:t>Easy</a:t>
            </a:r>
            <a:r>
              <a:rPr b="0" i="0" lang="en-US" sz="3252" u="none" cap="none" strike="noStrike">
                <a:solidFill>
                  <a:srgbClr val="F9CF7E"/>
                </a:solidFill>
                <a:latin typeface="Inter"/>
                <a:ea typeface="Inter"/>
                <a:cs typeface="Inter"/>
                <a:sym typeface="Inter"/>
              </a:rPr>
              <a:t> finance</a:t>
            </a:r>
            <a:endParaRPr/>
          </a:p>
        </p:txBody>
      </p:sp>
      <p:sp>
        <p:nvSpPr>
          <p:cNvPr id="107" name="Google Shape;107;p1"/>
          <p:cNvSpPr txBox="1"/>
          <p:nvPr/>
        </p:nvSpPr>
        <p:spPr>
          <a:xfrm>
            <a:off x="1481554" y="7762427"/>
            <a:ext cx="8565275" cy="683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2" u="none" cap="none" strike="noStrike">
                <a:solidFill>
                  <a:srgbClr val="E0C58E"/>
                </a:solidFill>
                <a:latin typeface="Inter"/>
                <a:ea typeface="Inter"/>
                <a:cs typeface="Inter"/>
                <a:sym typeface="Inter"/>
              </a:rPr>
              <a:t>A unified fintech experience for managing transactions, cards, and financial insights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122"/>
            </a:gs>
            <a:gs pos="33333">
              <a:srgbClr val="011819"/>
            </a:gs>
            <a:gs pos="66667">
              <a:srgbClr val="074A4D"/>
            </a:gs>
            <a:gs pos="100000">
              <a:srgbClr val="2B7386"/>
            </a:gs>
          </a:gsLst>
          <a:lin ang="0" scaled="0"/>
        </a:gra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/>
          <p:nvPr/>
        </p:nvSpPr>
        <p:spPr>
          <a:xfrm>
            <a:off x="8817091" y="0"/>
            <a:ext cx="15076171" cy="10287000"/>
          </a:xfrm>
          <a:custGeom>
            <a:rect b="b" l="l" r="r" t="t"/>
            <a:pathLst>
              <a:path extrusionOk="0" h="10287000" w="15076171">
                <a:moveTo>
                  <a:pt x="0" y="0"/>
                </a:moveTo>
                <a:lnTo>
                  <a:pt x="15076172" y="0"/>
                </a:lnTo>
                <a:lnTo>
                  <a:pt x="1507617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1000"/>
            </a:blip>
            <a:stretch>
              <a:fillRect b="0" l="-2487" r="-2487" t="0"/>
            </a:stretch>
          </a:blipFill>
          <a:ln>
            <a:noFill/>
          </a:ln>
        </p:spPr>
      </p:sp>
      <p:sp>
        <p:nvSpPr>
          <p:cNvPr id="113" name="Google Shape;113;p2"/>
          <p:cNvSpPr txBox="1"/>
          <p:nvPr/>
        </p:nvSpPr>
        <p:spPr>
          <a:xfrm>
            <a:off x="1490403" y="1622214"/>
            <a:ext cx="5777430" cy="1175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9CF7E"/>
                </a:solidFill>
                <a:latin typeface="Geo"/>
                <a:ea typeface="Geo"/>
                <a:cs typeface="Geo"/>
                <a:sym typeface="Geo"/>
              </a:rPr>
              <a:t>PROBLEMS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1490403" y="3081488"/>
            <a:ext cx="6177554" cy="1175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9CF7E"/>
                </a:solidFill>
                <a:latin typeface="Geo"/>
                <a:ea typeface="Geo"/>
                <a:cs typeface="Geo"/>
                <a:sym typeface="Geo"/>
              </a:rPr>
              <a:t>Introduction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1490403" y="4543004"/>
            <a:ext cx="8013415" cy="1175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9CF7E"/>
                </a:solidFill>
                <a:latin typeface="Geo"/>
                <a:ea typeface="Geo"/>
                <a:cs typeface="Geo"/>
                <a:sym typeface="Geo"/>
              </a:rPr>
              <a:t>Design Thinking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1490403" y="6004520"/>
            <a:ext cx="5777430" cy="1175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9CF7E"/>
                </a:solidFill>
                <a:latin typeface="Geo"/>
                <a:ea typeface="Geo"/>
                <a:cs typeface="Geo"/>
                <a:sym typeface="Geo"/>
              </a:rPr>
              <a:t>Prototypes</a:t>
            </a:r>
            <a:endParaRPr/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F3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3"/>
          <p:cNvGrpSpPr/>
          <p:nvPr/>
        </p:nvGrpSpPr>
        <p:grpSpPr>
          <a:xfrm>
            <a:off x="7197059" y="3381132"/>
            <a:ext cx="3893882" cy="3524737"/>
            <a:chOff x="0" y="0"/>
            <a:chExt cx="5191843" cy="4699649"/>
          </a:xfrm>
        </p:grpSpPr>
        <p:sp>
          <p:nvSpPr>
            <p:cNvPr id="122" name="Google Shape;122;p3"/>
            <p:cNvSpPr/>
            <p:nvPr/>
          </p:nvSpPr>
          <p:spPr>
            <a:xfrm>
              <a:off x="0" y="0"/>
              <a:ext cx="3135947" cy="4699649"/>
            </a:xfrm>
            <a:custGeom>
              <a:rect b="b" l="l" r="r" t="t"/>
              <a:pathLst>
                <a:path extrusionOk="0" h="4699649" w="3135947">
                  <a:moveTo>
                    <a:pt x="0" y="0"/>
                  </a:moveTo>
                  <a:lnTo>
                    <a:pt x="3135947" y="0"/>
                  </a:lnTo>
                  <a:lnTo>
                    <a:pt x="3135947" y="4699649"/>
                  </a:lnTo>
                  <a:lnTo>
                    <a:pt x="0" y="46996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3" name="Google Shape;123;p3"/>
            <p:cNvSpPr/>
            <p:nvPr/>
          </p:nvSpPr>
          <p:spPr>
            <a:xfrm>
              <a:off x="3602507" y="0"/>
              <a:ext cx="1589336" cy="4699649"/>
            </a:xfrm>
            <a:custGeom>
              <a:rect b="b" l="l" r="r" t="t"/>
              <a:pathLst>
                <a:path extrusionOk="0" h="4699649" w="1589336">
                  <a:moveTo>
                    <a:pt x="0" y="0"/>
                  </a:moveTo>
                  <a:lnTo>
                    <a:pt x="1589336" y="0"/>
                  </a:lnTo>
                  <a:lnTo>
                    <a:pt x="1589336" y="4699649"/>
                  </a:lnTo>
                  <a:lnTo>
                    <a:pt x="0" y="46996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24" name="Google Shape;124;p3"/>
          <p:cNvSpPr txBox="1"/>
          <p:nvPr/>
        </p:nvSpPr>
        <p:spPr>
          <a:xfrm>
            <a:off x="10651325" y="7187700"/>
            <a:ext cx="59091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E0C58E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E0C58E"/>
                </a:solidFill>
                <a:latin typeface="Geo"/>
                <a:ea typeface="Geo"/>
                <a:cs typeface="Geo"/>
                <a:sym typeface="Geo"/>
              </a:rPr>
              <a:t>ELack of clear insights into spending and investments</a:t>
            </a:r>
            <a:endParaRPr/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E0C58E"/>
              </a:solidFill>
              <a:latin typeface="Geo"/>
              <a:ea typeface="Geo"/>
              <a:cs typeface="Geo"/>
              <a:sym typeface="Geo"/>
            </a:endParaRPr>
          </a:p>
        </p:txBody>
      </p:sp>
      <p:cxnSp>
        <p:nvCxnSpPr>
          <p:cNvPr id="125" name="Google Shape;125;p3"/>
          <p:cNvCxnSpPr/>
          <p:nvPr/>
        </p:nvCxnSpPr>
        <p:spPr>
          <a:xfrm>
            <a:off x="11542462" y="5143500"/>
            <a:ext cx="1896256" cy="1653201"/>
          </a:xfrm>
          <a:prstGeom prst="straightConnector1">
            <a:avLst/>
          </a:prstGeom>
          <a:noFill/>
          <a:ln cap="flat" cmpd="sng" w="66675">
            <a:solidFill>
              <a:srgbClr val="C7AB79"/>
            </a:solidFill>
            <a:prstDash val="lgDash"/>
            <a:round/>
            <a:headEnd len="sm" w="sm" type="none"/>
            <a:tailEnd len="sm" w="sm" type="none"/>
          </a:ln>
        </p:spPr>
      </p:cxnSp>
      <p:cxnSp>
        <p:nvCxnSpPr>
          <p:cNvPr id="126" name="Google Shape;126;p3"/>
          <p:cNvCxnSpPr/>
          <p:nvPr/>
        </p:nvCxnSpPr>
        <p:spPr>
          <a:xfrm flipH="1" rot="10800000">
            <a:off x="4760039" y="4476399"/>
            <a:ext cx="1942545" cy="1557309"/>
          </a:xfrm>
          <a:prstGeom prst="straightConnector1">
            <a:avLst/>
          </a:prstGeom>
          <a:noFill/>
          <a:ln cap="flat" cmpd="sng" w="66675">
            <a:solidFill>
              <a:srgbClr val="C7AB79"/>
            </a:solidFill>
            <a:prstDash val="lgDash"/>
            <a:round/>
            <a:headEnd len="sm" w="sm" type="none"/>
            <a:tailEnd len="sm" w="sm" type="none"/>
          </a:ln>
        </p:spPr>
      </p:cxnSp>
      <p:cxnSp>
        <p:nvCxnSpPr>
          <p:cNvPr id="127" name="Google Shape;127;p3"/>
          <p:cNvCxnSpPr/>
          <p:nvPr/>
        </p:nvCxnSpPr>
        <p:spPr>
          <a:xfrm flipH="1" rot="10800000">
            <a:off x="11542462" y="2334581"/>
            <a:ext cx="2119362" cy="2141818"/>
          </a:xfrm>
          <a:prstGeom prst="straightConnector1">
            <a:avLst/>
          </a:prstGeom>
          <a:noFill/>
          <a:ln cap="flat" cmpd="sng" w="66675">
            <a:solidFill>
              <a:srgbClr val="C7AB79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8" name="Google Shape;128;p3"/>
          <p:cNvSpPr/>
          <p:nvPr/>
        </p:nvSpPr>
        <p:spPr>
          <a:xfrm>
            <a:off x="1028700" y="8283558"/>
            <a:ext cx="974742" cy="974742"/>
          </a:xfrm>
          <a:custGeom>
            <a:rect b="b" l="l" r="r" t="t"/>
            <a:pathLst>
              <a:path extrusionOk="0" h="974742" w="974742">
                <a:moveTo>
                  <a:pt x="0" y="0"/>
                </a:moveTo>
                <a:lnTo>
                  <a:pt x="974742" y="0"/>
                </a:lnTo>
                <a:lnTo>
                  <a:pt x="974742" y="974742"/>
                </a:lnTo>
                <a:lnTo>
                  <a:pt x="0" y="9747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3"/>
          <p:cNvSpPr txBox="1"/>
          <p:nvPr/>
        </p:nvSpPr>
        <p:spPr>
          <a:xfrm>
            <a:off x="1513940" y="939650"/>
            <a:ext cx="5777430" cy="1175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9CF7E"/>
                </a:solidFill>
                <a:latin typeface="Geo"/>
                <a:ea typeface="Geo"/>
                <a:cs typeface="Geo"/>
                <a:sym typeface="Geo"/>
              </a:rPr>
              <a:t>PROBLEMS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1513940" y="2086841"/>
            <a:ext cx="5777430" cy="385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CF7E"/>
                </a:solidFill>
                <a:latin typeface="Geo"/>
                <a:ea typeface="Geo"/>
                <a:cs typeface="Geo"/>
                <a:sym typeface="Geo"/>
              </a:rPr>
              <a:t>faced by the users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1332456" y="6027479"/>
            <a:ext cx="6140397" cy="238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E0C58E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E0C58E"/>
                </a:solidFill>
                <a:latin typeface="Geo"/>
                <a:ea typeface="Geo"/>
                <a:cs typeface="Geo"/>
                <a:sym typeface="Geo"/>
              </a:rPr>
              <a:t>Users struggle to manage multiple financial services in one place</a:t>
            </a:r>
            <a:endParaRPr/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E0C58E"/>
              </a:solidFill>
              <a:latin typeface="Geo"/>
              <a:ea typeface="Geo"/>
              <a:cs typeface="Geo"/>
              <a:sym typeface="Geo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10651325" y="1111200"/>
            <a:ext cx="59091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E0C58E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E0C58E"/>
                </a:solidFill>
                <a:latin typeface="Geo"/>
                <a:ea typeface="Geo"/>
                <a:cs typeface="Geo"/>
                <a:sym typeface="Geo"/>
              </a:rPr>
              <a:t>Existing apps feel cluttered or overly complex</a:t>
            </a:r>
            <a:endParaRPr/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E0C58E"/>
              </a:solidFill>
              <a:latin typeface="Geo"/>
              <a:ea typeface="Geo"/>
              <a:cs typeface="Geo"/>
              <a:sym typeface="Geo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F3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4"/>
          <p:cNvGrpSpPr/>
          <p:nvPr/>
        </p:nvGrpSpPr>
        <p:grpSpPr>
          <a:xfrm>
            <a:off x="7197059" y="3381132"/>
            <a:ext cx="3893882" cy="3524737"/>
            <a:chOff x="0" y="0"/>
            <a:chExt cx="5191843" cy="4699649"/>
          </a:xfrm>
        </p:grpSpPr>
        <p:sp>
          <p:nvSpPr>
            <p:cNvPr id="138" name="Google Shape;138;p4"/>
            <p:cNvSpPr/>
            <p:nvPr/>
          </p:nvSpPr>
          <p:spPr>
            <a:xfrm>
              <a:off x="0" y="0"/>
              <a:ext cx="3135947" cy="4699649"/>
            </a:xfrm>
            <a:custGeom>
              <a:rect b="b" l="l" r="r" t="t"/>
              <a:pathLst>
                <a:path extrusionOk="0" h="4699649" w="3135947">
                  <a:moveTo>
                    <a:pt x="0" y="0"/>
                  </a:moveTo>
                  <a:lnTo>
                    <a:pt x="3135947" y="0"/>
                  </a:lnTo>
                  <a:lnTo>
                    <a:pt x="3135947" y="4699649"/>
                  </a:lnTo>
                  <a:lnTo>
                    <a:pt x="0" y="46996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9" name="Google Shape;139;p4"/>
            <p:cNvSpPr/>
            <p:nvPr/>
          </p:nvSpPr>
          <p:spPr>
            <a:xfrm>
              <a:off x="3602507" y="0"/>
              <a:ext cx="1589336" cy="4699649"/>
            </a:xfrm>
            <a:custGeom>
              <a:rect b="b" l="l" r="r" t="t"/>
              <a:pathLst>
                <a:path extrusionOk="0" h="4699649" w="1589336">
                  <a:moveTo>
                    <a:pt x="0" y="0"/>
                  </a:moveTo>
                  <a:lnTo>
                    <a:pt x="1589336" y="0"/>
                  </a:lnTo>
                  <a:lnTo>
                    <a:pt x="1589336" y="4699649"/>
                  </a:lnTo>
                  <a:lnTo>
                    <a:pt x="0" y="46996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40" name="Google Shape;140;p4"/>
          <p:cNvSpPr txBox="1"/>
          <p:nvPr/>
        </p:nvSpPr>
        <p:spPr>
          <a:xfrm>
            <a:off x="10618000" y="1408635"/>
            <a:ext cx="590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E0C58E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E0C58E"/>
                </a:solidFill>
                <a:latin typeface="Geo"/>
                <a:ea typeface="Geo"/>
                <a:cs typeface="Geo"/>
                <a:sym typeface="Geo"/>
              </a:rPr>
              <a:t>Hard to find statements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10651325" y="8165149"/>
            <a:ext cx="590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E0C58E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E0C58E"/>
                </a:solidFill>
                <a:latin typeface="Geo"/>
                <a:ea typeface="Geo"/>
                <a:cs typeface="Geo"/>
                <a:sym typeface="Geo"/>
              </a:rPr>
              <a:t>Lack of invoice and reciepts</a:t>
            </a:r>
            <a:endParaRPr/>
          </a:p>
        </p:txBody>
      </p:sp>
      <p:cxnSp>
        <p:nvCxnSpPr>
          <p:cNvPr id="142" name="Google Shape;142;p4"/>
          <p:cNvCxnSpPr/>
          <p:nvPr/>
        </p:nvCxnSpPr>
        <p:spPr>
          <a:xfrm>
            <a:off x="9312881" y="6753527"/>
            <a:ext cx="1978500" cy="1231800"/>
          </a:xfrm>
          <a:prstGeom prst="straightConnector1">
            <a:avLst/>
          </a:prstGeom>
          <a:noFill/>
          <a:ln cap="flat" cmpd="sng" w="66675">
            <a:solidFill>
              <a:srgbClr val="C7AB79"/>
            </a:solidFill>
            <a:prstDash val="lgDash"/>
            <a:round/>
            <a:headEnd len="sm" w="sm" type="none"/>
            <a:tailEnd len="sm" w="sm" type="none"/>
          </a:ln>
        </p:spPr>
      </p:cxnSp>
      <p:cxnSp>
        <p:nvCxnSpPr>
          <p:cNvPr id="143" name="Google Shape;143;p4"/>
          <p:cNvCxnSpPr/>
          <p:nvPr/>
        </p:nvCxnSpPr>
        <p:spPr>
          <a:xfrm flipH="1" rot="10800000">
            <a:off x="4760039" y="4476399"/>
            <a:ext cx="1942545" cy="1617755"/>
          </a:xfrm>
          <a:prstGeom prst="straightConnector1">
            <a:avLst/>
          </a:prstGeom>
          <a:noFill/>
          <a:ln cap="flat" cmpd="sng" w="66675">
            <a:solidFill>
              <a:srgbClr val="C7AB79"/>
            </a:solidFill>
            <a:prstDash val="lgDash"/>
            <a:round/>
            <a:headEnd len="sm" w="sm" type="none"/>
            <a:tailEnd len="sm" w="sm" type="none"/>
          </a:ln>
        </p:spPr>
      </p:cxnSp>
      <p:cxnSp>
        <p:nvCxnSpPr>
          <p:cNvPr id="144" name="Google Shape;144;p4"/>
          <p:cNvCxnSpPr/>
          <p:nvPr/>
        </p:nvCxnSpPr>
        <p:spPr>
          <a:xfrm flipH="1" rot="10800000">
            <a:off x="9144000" y="2141740"/>
            <a:ext cx="2347200" cy="982800"/>
          </a:xfrm>
          <a:prstGeom prst="straightConnector1">
            <a:avLst/>
          </a:prstGeom>
          <a:noFill/>
          <a:ln cap="flat" cmpd="sng" w="66675">
            <a:solidFill>
              <a:srgbClr val="C7AB79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45" name="Google Shape;145;p4"/>
          <p:cNvSpPr/>
          <p:nvPr/>
        </p:nvSpPr>
        <p:spPr>
          <a:xfrm>
            <a:off x="1028700" y="8283558"/>
            <a:ext cx="974742" cy="974742"/>
          </a:xfrm>
          <a:custGeom>
            <a:rect b="b" l="l" r="r" t="t"/>
            <a:pathLst>
              <a:path extrusionOk="0" h="974742" w="974742">
                <a:moveTo>
                  <a:pt x="0" y="0"/>
                </a:moveTo>
                <a:lnTo>
                  <a:pt x="974742" y="0"/>
                </a:lnTo>
                <a:lnTo>
                  <a:pt x="974742" y="974742"/>
                </a:lnTo>
                <a:lnTo>
                  <a:pt x="0" y="9747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4"/>
          <p:cNvSpPr txBox="1"/>
          <p:nvPr/>
        </p:nvSpPr>
        <p:spPr>
          <a:xfrm>
            <a:off x="1513940" y="939650"/>
            <a:ext cx="5777430" cy="1175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9CF7E"/>
                </a:solidFill>
                <a:latin typeface="Geo"/>
                <a:ea typeface="Geo"/>
                <a:cs typeface="Geo"/>
                <a:sym typeface="Geo"/>
              </a:rPr>
              <a:t>PROBLEMS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1513940" y="2086841"/>
            <a:ext cx="5777430" cy="385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CF7E"/>
                </a:solidFill>
                <a:latin typeface="Geo"/>
                <a:ea typeface="Geo"/>
                <a:cs typeface="Geo"/>
                <a:sym typeface="Geo"/>
              </a:rPr>
              <a:t>faced by the users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1332456" y="6027479"/>
            <a:ext cx="6140397" cy="118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E0C58E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E0C58E"/>
                </a:solidFill>
                <a:latin typeface="Geo"/>
                <a:ea typeface="Geo"/>
                <a:cs typeface="Geo"/>
                <a:sym typeface="Geo"/>
              </a:rPr>
              <a:t>Unable to track monthy spendings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F3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 txBox="1"/>
          <p:nvPr/>
        </p:nvSpPr>
        <p:spPr>
          <a:xfrm>
            <a:off x="6255285" y="4255914"/>
            <a:ext cx="6572425" cy="1175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9CF7E"/>
                </a:solidFill>
                <a:latin typeface="Geo"/>
                <a:ea typeface="Geo"/>
                <a:cs typeface="Geo"/>
                <a:sym typeface="Geo"/>
              </a:rPr>
              <a:t>The Solution?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F3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 txBox="1"/>
          <p:nvPr/>
        </p:nvSpPr>
        <p:spPr>
          <a:xfrm>
            <a:off x="4572000" y="3832632"/>
            <a:ext cx="9144000" cy="1953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00" u="none" cap="none" strike="noStrike">
                <a:solidFill>
                  <a:srgbClr val="F9CF7E"/>
                </a:solidFill>
                <a:latin typeface="Georgia"/>
                <a:ea typeface="Georgia"/>
                <a:cs typeface="Georgia"/>
                <a:sym typeface="Georgia"/>
              </a:rPr>
              <a:t>This app I just designed makes managing money a little less confusing and a little more manageable.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F3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/>
          <p:nvPr/>
        </p:nvSpPr>
        <p:spPr>
          <a:xfrm>
            <a:off x="-587577" y="7049230"/>
            <a:ext cx="19273375" cy="3770191"/>
          </a:xfrm>
          <a:custGeom>
            <a:rect b="b" l="l" r="r" t="t"/>
            <a:pathLst>
              <a:path extrusionOk="0" h="8145611" w="41640705">
                <a:moveTo>
                  <a:pt x="41516244" y="8145611"/>
                </a:moveTo>
                <a:lnTo>
                  <a:pt x="124460" y="8145611"/>
                </a:lnTo>
                <a:cubicBezTo>
                  <a:pt x="55880" y="8145611"/>
                  <a:pt x="0" y="8089730"/>
                  <a:pt x="0" y="8021150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41516244" y="0"/>
                </a:lnTo>
                <a:cubicBezTo>
                  <a:pt x="41584826" y="0"/>
                  <a:pt x="41640705" y="55880"/>
                  <a:pt x="41640705" y="124460"/>
                </a:cubicBezTo>
                <a:lnTo>
                  <a:pt x="41640705" y="8021151"/>
                </a:lnTo>
                <a:cubicBezTo>
                  <a:pt x="41640705" y="8089730"/>
                  <a:pt x="41584826" y="8145611"/>
                  <a:pt x="41516244" y="8145611"/>
                </a:cubicBezTo>
                <a:close/>
              </a:path>
            </a:pathLst>
          </a:custGeom>
          <a:gradFill>
            <a:gsLst>
              <a:gs pos="0">
                <a:srgbClr val="E0C58E"/>
              </a:gs>
              <a:gs pos="100000">
                <a:srgbClr val="59723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4" name="Google Shape;164;p7"/>
          <p:cNvGrpSpPr/>
          <p:nvPr/>
        </p:nvGrpSpPr>
        <p:grpSpPr>
          <a:xfrm>
            <a:off x="11775750" y="1156235"/>
            <a:ext cx="4158932" cy="8452291"/>
            <a:chOff x="0" y="0"/>
            <a:chExt cx="5000993" cy="10163632"/>
          </a:xfrm>
        </p:grpSpPr>
        <p:sp>
          <p:nvSpPr>
            <p:cNvPr id="165" name="Google Shape;165;p7"/>
            <p:cNvSpPr/>
            <p:nvPr/>
          </p:nvSpPr>
          <p:spPr>
            <a:xfrm>
              <a:off x="0" y="0"/>
              <a:ext cx="5000993" cy="10163632"/>
            </a:xfrm>
            <a:custGeom>
              <a:rect b="b" l="l" r="r" t="t"/>
              <a:pathLst>
                <a:path extrusionOk="0"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45" r="-45" t="0"/>
              </a:stretch>
            </a:blipFill>
            <a:ln>
              <a:noFill/>
            </a:ln>
          </p:spPr>
        </p:sp>
        <p:sp>
          <p:nvSpPr>
            <p:cNvPr id="166" name="Google Shape;166;p7"/>
            <p:cNvSpPr/>
            <p:nvPr/>
          </p:nvSpPr>
          <p:spPr>
            <a:xfrm>
              <a:off x="338760" y="288798"/>
              <a:ext cx="4330776" cy="9398000"/>
            </a:xfrm>
            <a:custGeom>
              <a:rect b="b" l="l" r="r" t="t"/>
              <a:pathLst>
                <a:path extrusionOk="0"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287" l="0" r="0" t="-287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" name="Google Shape;167;p7"/>
          <p:cNvSpPr txBox="1"/>
          <p:nvPr/>
        </p:nvSpPr>
        <p:spPr>
          <a:xfrm>
            <a:off x="1028700" y="2590812"/>
            <a:ext cx="7492412" cy="123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E0C58E"/>
                </a:solidFill>
                <a:latin typeface="Georgia"/>
                <a:ea typeface="Georgia"/>
                <a:cs typeface="Georgia"/>
                <a:sym typeface="Georgia"/>
              </a:rPr>
              <a:t>Introducing fi</a:t>
            </a:r>
            <a:r>
              <a:rPr b="0" i="0" lang="en-US" sz="7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nio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F3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8"/>
          <p:cNvGrpSpPr/>
          <p:nvPr/>
        </p:nvGrpSpPr>
        <p:grpSpPr>
          <a:xfrm>
            <a:off x="12663568" y="0"/>
            <a:ext cx="5526082" cy="11230783"/>
            <a:chOff x="0" y="0"/>
            <a:chExt cx="5000993" cy="10163632"/>
          </a:xfrm>
        </p:grpSpPr>
        <p:sp>
          <p:nvSpPr>
            <p:cNvPr id="173" name="Google Shape;173;p8"/>
            <p:cNvSpPr/>
            <p:nvPr/>
          </p:nvSpPr>
          <p:spPr>
            <a:xfrm>
              <a:off x="0" y="0"/>
              <a:ext cx="5000993" cy="10163632"/>
            </a:xfrm>
            <a:custGeom>
              <a:rect b="b" l="l" r="r" t="t"/>
              <a:pathLst>
                <a:path extrusionOk="0"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45" r="-45" t="0"/>
              </a:stretch>
            </a:blipFill>
            <a:ln>
              <a:noFill/>
            </a:ln>
          </p:spPr>
        </p:sp>
        <p:sp>
          <p:nvSpPr>
            <p:cNvPr id="174" name="Google Shape;174;p8"/>
            <p:cNvSpPr/>
            <p:nvPr/>
          </p:nvSpPr>
          <p:spPr>
            <a:xfrm>
              <a:off x="338760" y="288798"/>
              <a:ext cx="4330776" cy="9398000"/>
            </a:xfrm>
            <a:custGeom>
              <a:rect b="b" l="l" r="r" t="t"/>
              <a:pathLst>
                <a:path extrusionOk="0"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287" l="0" r="0" t="-287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5" name="Google Shape;175;p8"/>
          <p:cNvSpPr txBox="1"/>
          <p:nvPr/>
        </p:nvSpPr>
        <p:spPr>
          <a:xfrm>
            <a:off x="746260" y="4060432"/>
            <a:ext cx="11634868" cy="378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E0C58E"/>
                </a:solidFill>
                <a:latin typeface="Georgia"/>
                <a:ea typeface="Georgia"/>
                <a:cs typeface="Georgia"/>
                <a:sym typeface="Georgia"/>
              </a:rPr>
              <a:t>A clean, structured interface for financial management!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200" u="none" cap="none" strike="noStrike">
              <a:solidFill>
                <a:srgbClr val="E0C58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F3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9"/>
          <p:cNvGrpSpPr/>
          <p:nvPr/>
        </p:nvGrpSpPr>
        <p:grpSpPr>
          <a:xfrm>
            <a:off x="1647788" y="1651929"/>
            <a:ext cx="4816747" cy="9528427"/>
            <a:chOff x="0" y="0"/>
            <a:chExt cx="2620010" cy="5182870"/>
          </a:xfrm>
        </p:grpSpPr>
        <p:sp>
          <p:nvSpPr>
            <p:cNvPr id="181" name="Google Shape;181;p9"/>
            <p:cNvSpPr/>
            <p:nvPr/>
          </p:nvSpPr>
          <p:spPr>
            <a:xfrm>
              <a:off x="53340" y="25400"/>
              <a:ext cx="2513330" cy="5132070"/>
            </a:xfrm>
            <a:custGeom>
              <a:rect b="b" l="l" r="r" t="t"/>
              <a:pathLst>
                <a:path extrusionOk="0"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185420" y="156210"/>
              <a:ext cx="2250453" cy="4876800"/>
            </a:xfrm>
            <a:custGeom>
              <a:rect b="b" l="l" r="r" t="t"/>
              <a:pathLst>
                <a:path extrusionOk="0"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357" l="0" r="0" t="-357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1121410" y="198120"/>
              <a:ext cx="347980" cy="43180"/>
            </a:xfrm>
            <a:custGeom>
              <a:rect b="b" l="l" r="r" t="t"/>
              <a:pathLst>
                <a:path extrusionOk="0"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1579738" y="187960"/>
              <a:ext cx="63785" cy="63501"/>
            </a:xfrm>
            <a:custGeom>
              <a:rect b="b" l="l" r="r" t="t"/>
              <a:pathLst>
                <a:path extrusionOk="0"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0" y="685800"/>
              <a:ext cx="27940" cy="213360"/>
            </a:xfrm>
            <a:custGeom>
              <a:rect b="b" l="l" r="r" t="t"/>
              <a:pathLst>
                <a:path extrusionOk="0"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9"/>
            <p:cNvSpPr/>
            <p:nvPr/>
          </p:nvSpPr>
          <p:spPr>
            <a:xfrm>
              <a:off x="0" y="1057910"/>
              <a:ext cx="27940" cy="384810"/>
            </a:xfrm>
            <a:custGeom>
              <a:rect b="b" l="l" r="r" t="t"/>
              <a:pathLst>
                <a:path extrusionOk="0"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9"/>
            <p:cNvSpPr/>
            <p:nvPr/>
          </p:nvSpPr>
          <p:spPr>
            <a:xfrm>
              <a:off x="0" y="1526540"/>
              <a:ext cx="27940" cy="386080"/>
            </a:xfrm>
            <a:custGeom>
              <a:rect b="b" l="l" r="r" t="t"/>
              <a:pathLst>
                <a:path extrusionOk="0"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2592070" y="1184910"/>
              <a:ext cx="27940" cy="618490"/>
            </a:xfrm>
            <a:custGeom>
              <a:rect b="b" l="l" r="r" t="t"/>
              <a:pathLst>
                <a:path extrusionOk="0"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9"/>
            <p:cNvSpPr/>
            <p:nvPr/>
          </p:nvSpPr>
          <p:spPr>
            <a:xfrm>
              <a:off x="27940" y="0"/>
              <a:ext cx="2564130" cy="5182870"/>
            </a:xfrm>
            <a:custGeom>
              <a:rect b="b" l="l" r="r" t="t"/>
              <a:pathLst>
                <a:path extrusionOk="0"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0" name="Google Shape;190;p9"/>
          <p:cNvGrpSpPr/>
          <p:nvPr/>
        </p:nvGrpSpPr>
        <p:grpSpPr>
          <a:xfrm>
            <a:off x="9884223" y="1479538"/>
            <a:ext cx="4816747" cy="9528427"/>
            <a:chOff x="0" y="0"/>
            <a:chExt cx="2620010" cy="5182870"/>
          </a:xfrm>
        </p:grpSpPr>
        <p:sp>
          <p:nvSpPr>
            <p:cNvPr id="191" name="Google Shape;191;p9"/>
            <p:cNvSpPr/>
            <p:nvPr/>
          </p:nvSpPr>
          <p:spPr>
            <a:xfrm>
              <a:off x="53340" y="25400"/>
              <a:ext cx="2513330" cy="5132070"/>
            </a:xfrm>
            <a:custGeom>
              <a:rect b="b" l="l" r="r" t="t"/>
              <a:pathLst>
                <a:path extrusionOk="0"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185420" y="156210"/>
              <a:ext cx="2250453" cy="4876800"/>
            </a:xfrm>
            <a:custGeom>
              <a:rect b="b" l="l" r="r" t="t"/>
              <a:pathLst>
                <a:path extrusionOk="0"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357" l="0" r="0" t="-357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9"/>
            <p:cNvSpPr/>
            <p:nvPr/>
          </p:nvSpPr>
          <p:spPr>
            <a:xfrm>
              <a:off x="1121410" y="198120"/>
              <a:ext cx="347980" cy="43180"/>
            </a:xfrm>
            <a:custGeom>
              <a:rect b="b" l="l" r="r" t="t"/>
              <a:pathLst>
                <a:path extrusionOk="0"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9"/>
            <p:cNvSpPr/>
            <p:nvPr/>
          </p:nvSpPr>
          <p:spPr>
            <a:xfrm>
              <a:off x="1579738" y="187960"/>
              <a:ext cx="63785" cy="63501"/>
            </a:xfrm>
            <a:custGeom>
              <a:rect b="b" l="l" r="r" t="t"/>
              <a:pathLst>
                <a:path extrusionOk="0"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0" y="685800"/>
              <a:ext cx="27940" cy="213360"/>
            </a:xfrm>
            <a:custGeom>
              <a:rect b="b" l="l" r="r" t="t"/>
              <a:pathLst>
                <a:path extrusionOk="0"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0" y="1057910"/>
              <a:ext cx="27940" cy="384810"/>
            </a:xfrm>
            <a:custGeom>
              <a:rect b="b" l="l" r="r" t="t"/>
              <a:pathLst>
                <a:path extrusionOk="0"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0" y="1526540"/>
              <a:ext cx="27940" cy="386080"/>
            </a:xfrm>
            <a:custGeom>
              <a:rect b="b" l="l" r="r" t="t"/>
              <a:pathLst>
                <a:path extrusionOk="0"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2592070" y="1184910"/>
              <a:ext cx="27940" cy="618490"/>
            </a:xfrm>
            <a:custGeom>
              <a:rect b="b" l="l" r="r" t="t"/>
              <a:pathLst>
                <a:path extrusionOk="0"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27940" y="0"/>
              <a:ext cx="2564130" cy="5182870"/>
            </a:xfrm>
            <a:custGeom>
              <a:rect b="b" l="l" r="r" t="t"/>
              <a:pathLst>
                <a:path extrusionOk="0"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" name="Google Shape;200;p9"/>
          <p:cNvGrpSpPr/>
          <p:nvPr/>
        </p:nvGrpSpPr>
        <p:grpSpPr>
          <a:xfrm>
            <a:off x="5434112" y="2489635"/>
            <a:ext cx="3321504" cy="6570556"/>
            <a:chOff x="0" y="0"/>
            <a:chExt cx="2620010" cy="5182870"/>
          </a:xfrm>
        </p:grpSpPr>
        <p:sp>
          <p:nvSpPr>
            <p:cNvPr id="201" name="Google Shape;201;p9"/>
            <p:cNvSpPr/>
            <p:nvPr/>
          </p:nvSpPr>
          <p:spPr>
            <a:xfrm>
              <a:off x="53340" y="25400"/>
              <a:ext cx="2513330" cy="5132070"/>
            </a:xfrm>
            <a:custGeom>
              <a:rect b="b" l="l" r="r" t="t"/>
              <a:pathLst>
                <a:path extrusionOk="0"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185420" y="156210"/>
              <a:ext cx="2250453" cy="4876800"/>
            </a:xfrm>
            <a:custGeom>
              <a:rect b="b" l="l" r="r" t="t"/>
              <a:pathLst>
                <a:path extrusionOk="0"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357" l="0" r="0" t="-357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1121410" y="198120"/>
              <a:ext cx="347980" cy="43180"/>
            </a:xfrm>
            <a:custGeom>
              <a:rect b="b" l="l" r="r" t="t"/>
              <a:pathLst>
                <a:path extrusionOk="0"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1579738" y="187960"/>
              <a:ext cx="63785" cy="63501"/>
            </a:xfrm>
            <a:custGeom>
              <a:rect b="b" l="l" r="r" t="t"/>
              <a:pathLst>
                <a:path extrusionOk="0"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0" y="685800"/>
              <a:ext cx="27940" cy="213360"/>
            </a:xfrm>
            <a:custGeom>
              <a:rect b="b" l="l" r="r" t="t"/>
              <a:pathLst>
                <a:path extrusionOk="0"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0" y="1057910"/>
              <a:ext cx="27940" cy="384810"/>
            </a:xfrm>
            <a:custGeom>
              <a:rect b="b" l="l" r="r" t="t"/>
              <a:pathLst>
                <a:path extrusionOk="0"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0" y="1526540"/>
              <a:ext cx="27940" cy="386080"/>
            </a:xfrm>
            <a:custGeom>
              <a:rect b="b" l="l" r="r" t="t"/>
              <a:pathLst>
                <a:path extrusionOk="0"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2592070" y="1184910"/>
              <a:ext cx="27940" cy="618490"/>
            </a:xfrm>
            <a:custGeom>
              <a:rect b="b" l="l" r="r" t="t"/>
              <a:pathLst>
                <a:path extrusionOk="0"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27940" y="0"/>
              <a:ext cx="2564130" cy="5182870"/>
            </a:xfrm>
            <a:custGeom>
              <a:rect b="b" l="l" r="r" t="t"/>
              <a:pathLst>
                <a:path extrusionOk="0"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0" name="Google Shape;210;p9"/>
          <p:cNvGrpSpPr/>
          <p:nvPr/>
        </p:nvGrpSpPr>
        <p:grpSpPr>
          <a:xfrm>
            <a:off x="13711990" y="2958836"/>
            <a:ext cx="3321504" cy="6570556"/>
            <a:chOff x="0" y="0"/>
            <a:chExt cx="2620010" cy="5182870"/>
          </a:xfrm>
        </p:grpSpPr>
        <p:sp>
          <p:nvSpPr>
            <p:cNvPr id="211" name="Google Shape;211;p9"/>
            <p:cNvSpPr/>
            <p:nvPr/>
          </p:nvSpPr>
          <p:spPr>
            <a:xfrm>
              <a:off x="53340" y="25400"/>
              <a:ext cx="2513330" cy="5132070"/>
            </a:xfrm>
            <a:custGeom>
              <a:rect b="b" l="l" r="r" t="t"/>
              <a:pathLst>
                <a:path extrusionOk="0"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185420" y="156210"/>
              <a:ext cx="2250453" cy="4876800"/>
            </a:xfrm>
            <a:custGeom>
              <a:rect b="b" l="l" r="r" t="t"/>
              <a:pathLst>
                <a:path extrusionOk="0"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357" l="0" r="0" t="-357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1121410" y="198120"/>
              <a:ext cx="347980" cy="43180"/>
            </a:xfrm>
            <a:custGeom>
              <a:rect b="b" l="l" r="r" t="t"/>
              <a:pathLst>
                <a:path extrusionOk="0"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1579738" y="187960"/>
              <a:ext cx="63785" cy="63501"/>
            </a:xfrm>
            <a:custGeom>
              <a:rect b="b" l="l" r="r" t="t"/>
              <a:pathLst>
                <a:path extrusionOk="0"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0" y="685800"/>
              <a:ext cx="27940" cy="213360"/>
            </a:xfrm>
            <a:custGeom>
              <a:rect b="b" l="l" r="r" t="t"/>
              <a:pathLst>
                <a:path extrusionOk="0"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9"/>
            <p:cNvSpPr/>
            <p:nvPr/>
          </p:nvSpPr>
          <p:spPr>
            <a:xfrm>
              <a:off x="0" y="1057910"/>
              <a:ext cx="27940" cy="384810"/>
            </a:xfrm>
            <a:custGeom>
              <a:rect b="b" l="l" r="r" t="t"/>
              <a:pathLst>
                <a:path extrusionOk="0"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9"/>
            <p:cNvSpPr/>
            <p:nvPr/>
          </p:nvSpPr>
          <p:spPr>
            <a:xfrm>
              <a:off x="0" y="1526540"/>
              <a:ext cx="27940" cy="386080"/>
            </a:xfrm>
            <a:custGeom>
              <a:rect b="b" l="l" r="r" t="t"/>
              <a:pathLst>
                <a:path extrusionOk="0"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2592070" y="1184910"/>
              <a:ext cx="27940" cy="618490"/>
            </a:xfrm>
            <a:custGeom>
              <a:rect b="b" l="l" r="r" t="t"/>
              <a:pathLst>
                <a:path extrusionOk="0"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27940" y="0"/>
              <a:ext cx="2564130" cy="5182870"/>
            </a:xfrm>
            <a:custGeom>
              <a:rect b="b" l="l" r="r" t="t"/>
              <a:pathLst>
                <a:path extrusionOk="0"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10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10"/>
          <p:cNvGrpSpPr/>
          <p:nvPr/>
        </p:nvGrpSpPr>
        <p:grpSpPr>
          <a:xfrm>
            <a:off x="18153377" y="7690419"/>
            <a:ext cx="290192" cy="1567881"/>
            <a:chOff x="0" y="-38100"/>
            <a:chExt cx="294878" cy="1593203"/>
          </a:xfrm>
        </p:grpSpPr>
        <p:sp>
          <p:nvSpPr>
            <p:cNvPr id="225" name="Google Shape;225;p10"/>
            <p:cNvSpPr/>
            <p:nvPr/>
          </p:nvSpPr>
          <p:spPr>
            <a:xfrm>
              <a:off x="0" y="0"/>
              <a:ext cx="294878" cy="1555103"/>
            </a:xfrm>
            <a:custGeom>
              <a:rect b="b" l="l" r="r" t="t"/>
              <a:pathLst>
                <a:path extrusionOk="0" h="1555103" w="294878">
                  <a:moveTo>
                    <a:pt x="147439" y="0"/>
                  </a:moveTo>
                  <a:lnTo>
                    <a:pt x="147439" y="0"/>
                  </a:lnTo>
                  <a:cubicBezTo>
                    <a:pt x="228868" y="0"/>
                    <a:pt x="294878" y="66011"/>
                    <a:pt x="294878" y="147439"/>
                  </a:cubicBezTo>
                  <a:lnTo>
                    <a:pt x="294878" y="1407663"/>
                  </a:lnTo>
                  <a:cubicBezTo>
                    <a:pt x="294878" y="1446767"/>
                    <a:pt x="279345" y="1484268"/>
                    <a:pt x="251694" y="1511919"/>
                  </a:cubicBezTo>
                  <a:cubicBezTo>
                    <a:pt x="224044" y="1539569"/>
                    <a:pt x="186542" y="1555103"/>
                    <a:pt x="147439" y="1555103"/>
                  </a:cubicBezTo>
                  <a:lnTo>
                    <a:pt x="147439" y="1555103"/>
                  </a:lnTo>
                  <a:cubicBezTo>
                    <a:pt x="108336" y="1555103"/>
                    <a:pt x="70834" y="1539569"/>
                    <a:pt x="43184" y="1511919"/>
                  </a:cubicBezTo>
                  <a:cubicBezTo>
                    <a:pt x="15534" y="1484268"/>
                    <a:pt x="0" y="1446767"/>
                    <a:pt x="0" y="1407663"/>
                  </a:cubicBezTo>
                  <a:lnTo>
                    <a:pt x="0" y="147439"/>
                  </a:lnTo>
                  <a:cubicBezTo>
                    <a:pt x="0" y="108336"/>
                    <a:pt x="15534" y="70834"/>
                    <a:pt x="43184" y="43184"/>
                  </a:cubicBezTo>
                  <a:cubicBezTo>
                    <a:pt x="70834" y="15534"/>
                    <a:pt x="108336" y="0"/>
                    <a:pt x="147439" y="0"/>
                  </a:cubicBezTo>
                  <a:close/>
                </a:path>
              </a:pathLst>
            </a:custGeom>
            <a:gradFill>
              <a:gsLst>
                <a:gs pos="0">
                  <a:srgbClr val="004D48"/>
                </a:gs>
                <a:gs pos="100000">
                  <a:srgbClr val="3FF3E7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0"/>
            <p:cNvSpPr txBox="1"/>
            <p:nvPr/>
          </p:nvSpPr>
          <p:spPr>
            <a:xfrm>
              <a:off x="0" y="-38100"/>
              <a:ext cx="294878" cy="1593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7" name="Google Shape;227;p10"/>
          <p:cNvGrpSpPr/>
          <p:nvPr/>
        </p:nvGrpSpPr>
        <p:grpSpPr>
          <a:xfrm>
            <a:off x="-369373" y="4998839"/>
            <a:ext cx="7922056" cy="5288161"/>
            <a:chOff x="0" y="-38100"/>
            <a:chExt cx="2086467" cy="1392767"/>
          </a:xfrm>
        </p:grpSpPr>
        <p:sp>
          <p:nvSpPr>
            <p:cNvPr id="228" name="Google Shape;228;p10"/>
            <p:cNvSpPr/>
            <p:nvPr/>
          </p:nvSpPr>
          <p:spPr>
            <a:xfrm>
              <a:off x="0" y="0"/>
              <a:ext cx="2086467" cy="1354667"/>
            </a:xfrm>
            <a:custGeom>
              <a:rect b="b" l="l" r="r" t="t"/>
              <a:pathLst>
                <a:path extrusionOk="0" h="1354667" w="2086467">
                  <a:moveTo>
                    <a:pt x="0" y="0"/>
                  </a:moveTo>
                  <a:lnTo>
                    <a:pt x="2086467" y="0"/>
                  </a:lnTo>
                  <a:lnTo>
                    <a:pt x="2086467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052F31"/>
            </a:solidFill>
            <a:ln>
              <a:noFill/>
            </a:ln>
          </p:spPr>
        </p:sp>
        <p:sp>
          <p:nvSpPr>
            <p:cNvPr id="229" name="Google Shape;229;p10"/>
            <p:cNvSpPr txBox="1"/>
            <p:nvPr/>
          </p:nvSpPr>
          <p:spPr>
            <a:xfrm>
              <a:off x="0" y="-38100"/>
              <a:ext cx="2086467" cy="1392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10"/>
          <p:cNvGrpSpPr/>
          <p:nvPr/>
        </p:nvGrpSpPr>
        <p:grpSpPr>
          <a:xfrm>
            <a:off x="-1217825" y="-2125577"/>
            <a:ext cx="3427209" cy="6779661"/>
            <a:chOff x="0" y="0"/>
            <a:chExt cx="2620010" cy="5182870"/>
          </a:xfrm>
        </p:grpSpPr>
        <p:sp>
          <p:nvSpPr>
            <p:cNvPr id="231" name="Google Shape;231;p10"/>
            <p:cNvSpPr/>
            <p:nvPr/>
          </p:nvSpPr>
          <p:spPr>
            <a:xfrm>
              <a:off x="53340" y="25400"/>
              <a:ext cx="2513330" cy="5132070"/>
            </a:xfrm>
            <a:custGeom>
              <a:rect b="b" l="l" r="r" t="t"/>
              <a:pathLst>
                <a:path extrusionOk="0"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0"/>
            <p:cNvSpPr/>
            <p:nvPr/>
          </p:nvSpPr>
          <p:spPr>
            <a:xfrm>
              <a:off x="185420" y="156210"/>
              <a:ext cx="2250453" cy="4876800"/>
            </a:xfrm>
            <a:custGeom>
              <a:rect b="b" l="l" r="r" t="t"/>
              <a:pathLst>
                <a:path extrusionOk="0"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170" l="0" r="0" t="-70485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0"/>
            <p:cNvSpPr/>
            <p:nvPr/>
          </p:nvSpPr>
          <p:spPr>
            <a:xfrm>
              <a:off x="1121410" y="198120"/>
              <a:ext cx="347980" cy="43180"/>
            </a:xfrm>
            <a:custGeom>
              <a:rect b="b" l="l" r="r" t="t"/>
              <a:pathLst>
                <a:path extrusionOk="0"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0"/>
            <p:cNvSpPr/>
            <p:nvPr/>
          </p:nvSpPr>
          <p:spPr>
            <a:xfrm>
              <a:off x="1579738" y="187960"/>
              <a:ext cx="63785" cy="63501"/>
            </a:xfrm>
            <a:custGeom>
              <a:rect b="b" l="l" r="r" t="t"/>
              <a:pathLst>
                <a:path extrusionOk="0"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0"/>
            <p:cNvSpPr/>
            <p:nvPr/>
          </p:nvSpPr>
          <p:spPr>
            <a:xfrm>
              <a:off x="0" y="685800"/>
              <a:ext cx="27940" cy="213360"/>
            </a:xfrm>
            <a:custGeom>
              <a:rect b="b" l="l" r="r" t="t"/>
              <a:pathLst>
                <a:path extrusionOk="0"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0"/>
            <p:cNvSpPr/>
            <p:nvPr/>
          </p:nvSpPr>
          <p:spPr>
            <a:xfrm>
              <a:off x="0" y="1057910"/>
              <a:ext cx="27940" cy="384810"/>
            </a:xfrm>
            <a:custGeom>
              <a:rect b="b" l="l" r="r" t="t"/>
              <a:pathLst>
                <a:path extrusionOk="0"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0"/>
            <p:cNvSpPr/>
            <p:nvPr/>
          </p:nvSpPr>
          <p:spPr>
            <a:xfrm>
              <a:off x="0" y="1526540"/>
              <a:ext cx="27940" cy="386080"/>
            </a:xfrm>
            <a:custGeom>
              <a:rect b="b" l="l" r="r" t="t"/>
              <a:pathLst>
                <a:path extrusionOk="0"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0"/>
            <p:cNvSpPr/>
            <p:nvPr/>
          </p:nvSpPr>
          <p:spPr>
            <a:xfrm>
              <a:off x="2592070" y="1184910"/>
              <a:ext cx="27940" cy="618490"/>
            </a:xfrm>
            <a:custGeom>
              <a:rect b="b" l="l" r="r" t="t"/>
              <a:pathLst>
                <a:path extrusionOk="0"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0"/>
            <p:cNvSpPr/>
            <p:nvPr/>
          </p:nvSpPr>
          <p:spPr>
            <a:xfrm>
              <a:off x="27940" y="0"/>
              <a:ext cx="2564130" cy="5182870"/>
            </a:xfrm>
            <a:custGeom>
              <a:rect b="b" l="l" r="r" t="t"/>
              <a:pathLst>
                <a:path extrusionOk="0"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0" name="Google Shape;240;p10"/>
          <p:cNvGrpSpPr/>
          <p:nvPr/>
        </p:nvGrpSpPr>
        <p:grpSpPr>
          <a:xfrm>
            <a:off x="2495313" y="-818911"/>
            <a:ext cx="3427209" cy="6779661"/>
            <a:chOff x="0" y="0"/>
            <a:chExt cx="2620010" cy="5182870"/>
          </a:xfrm>
        </p:grpSpPr>
        <p:sp>
          <p:nvSpPr>
            <p:cNvPr id="241" name="Google Shape;241;p10"/>
            <p:cNvSpPr/>
            <p:nvPr/>
          </p:nvSpPr>
          <p:spPr>
            <a:xfrm>
              <a:off x="53340" y="25400"/>
              <a:ext cx="2513330" cy="5132070"/>
            </a:xfrm>
            <a:custGeom>
              <a:rect b="b" l="l" r="r" t="t"/>
              <a:pathLst>
                <a:path extrusionOk="0"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0"/>
            <p:cNvSpPr/>
            <p:nvPr/>
          </p:nvSpPr>
          <p:spPr>
            <a:xfrm>
              <a:off x="185420" y="156210"/>
              <a:ext cx="2250453" cy="4876800"/>
            </a:xfrm>
            <a:custGeom>
              <a:rect b="b" l="l" r="r" t="t"/>
              <a:pathLst>
                <a:path extrusionOk="0"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36326" l="0" r="0" t="-36326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0"/>
            <p:cNvSpPr/>
            <p:nvPr/>
          </p:nvSpPr>
          <p:spPr>
            <a:xfrm>
              <a:off x="1121410" y="198120"/>
              <a:ext cx="347980" cy="43180"/>
            </a:xfrm>
            <a:custGeom>
              <a:rect b="b" l="l" r="r" t="t"/>
              <a:pathLst>
                <a:path extrusionOk="0"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0"/>
            <p:cNvSpPr/>
            <p:nvPr/>
          </p:nvSpPr>
          <p:spPr>
            <a:xfrm>
              <a:off x="1579738" y="187960"/>
              <a:ext cx="63785" cy="63501"/>
            </a:xfrm>
            <a:custGeom>
              <a:rect b="b" l="l" r="r" t="t"/>
              <a:pathLst>
                <a:path extrusionOk="0"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0"/>
            <p:cNvSpPr/>
            <p:nvPr/>
          </p:nvSpPr>
          <p:spPr>
            <a:xfrm>
              <a:off x="0" y="685800"/>
              <a:ext cx="27940" cy="213360"/>
            </a:xfrm>
            <a:custGeom>
              <a:rect b="b" l="l" r="r" t="t"/>
              <a:pathLst>
                <a:path extrusionOk="0"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0"/>
            <p:cNvSpPr/>
            <p:nvPr/>
          </p:nvSpPr>
          <p:spPr>
            <a:xfrm>
              <a:off x="0" y="1057910"/>
              <a:ext cx="27940" cy="384810"/>
            </a:xfrm>
            <a:custGeom>
              <a:rect b="b" l="l" r="r" t="t"/>
              <a:pathLst>
                <a:path extrusionOk="0"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0"/>
            <p:cNvSpPr/>
            <p:nvPr/>
          </p:nvSpPr>
          <p:spPr>
            <a:xfrm>
              <a:off x="0" y="1526540"/>
              <a:ext cx="27940" cy="386080"/>
            </a:xfrm>
            <a:custGeom>
              <a:rect b="b" l="l" r="r" t="t"/>
              <a:pathLst>
                <a:path extrusionOk="0"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0"/>
            <p:cNvSpPr/>
            <p:nvPr/>
          </p:nvSpPr>
          <p:spPr>
            <a:xfrm>
              <a:off x="2592070" y="1184910"/>
              <a:ext cx="27940" cy="618490"/>
            </a:xfrm>
            <a:custGeom>
              <a:rect b="b" l="l" r="r" t="t"/>
              <a:pathLst>
                <a:path extrusionOk="0"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0"/>
            <p:cNvSpPr/>
            <p:nvPr/>
          </p:nvSpPr>
          <p:spPr>
            <a:xfrm>
              <a:off x="27940" y="0"/>
              <a:ext cx="2564130" cy="5182870"/>
            </a:xfrm>
            <a:custGeom>
              <a:rect b="b" l="l" r="r" t="t"/>
              <a:pathLst>
                <a:path extrusionOk="0"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" name="Google Shape;250;p10"/>
          <p:cNvGrpSpPr/>
          <p:nvPr/>
        </p:nvGrpSpPr>
        <p:grpSpPr>
          <a:xfrm>
            <a:off x="6208273" y="1028700"/>
            <a:ext cx="3427209" cy="6779661"/>
            <a:chOff x="0" y="0"/>
            <a:chExt cx="2620010" cy="5182870"/>
          </a:xfrm>
        </p:grpSpPr>
        <p:sp>
          <p:nvSpPr>
            <p:cNvPr id="251" name="Google Shape;251;p10"/>
            <p:cNvSpPr/>
            <p:nvPr/>
          </p:nvSpPr>
          <p:spPr>
            <a:xfrm>
              <a:off x="53340" y="25400"/>
              <a:ext cx="2513330" cy="5132070"/>
            </a:xfrm>
            <a:custGeom>
              <a:rect b="b" l="l" r="r" t="t"/>
              <a:pathLst>
                <a:path extrusionOk="0"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0"/>
            <p:cNvSpPr/>
            <p:nvPr/>
          </p:nvSpPr>
          <p:spPr>
            <a:xfrm>
              <a:off x="185420" y="156210"/>
              <a:ext cx="2250453" cy="4876800"/>
            </a:xfrm>
            <a:custGeom>
              <a:rect b="b" l="l" r="r" t="t"/>
              <a:pathLst>
                <a:path extrusionOk="0"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357" l="0" r="0" t="-357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0"/>
            <p:cNvSpPr/>
            <p:nvPr/>
          </p:nvSpPr>
          <p:spPr>
            <a:xfrm>
              <a:off x="1121410" y="198120"/>
              <a:ext cx="347980" cy="43180"/>
            </a:xfrm>
            <a:custGeom>
              <a:rect b="b" l="l" r="r" t="t"/>
              <a:pathLst>
                <a:path extrusionOk="0"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0"/>
            <p:cNvSpPr/>
            <p:nvPr/>
          </p:nvSpPr>
          <p:spPr>
            <a:xfrm>
              <a:off x="1579738" y="187960"/>
              <a:ext cx="63785" cy="63501"/>
            </a:xfrm>
            <a:custGeom>
              <a:rect b="b" l="l" r="r" t="t"/>
              <a:pathLst>
                <a:path extrusionOk="0"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0"/>
            <p:cNvSpPr/>
            <p:nvPr/>
          </p:nvSpPr>
          <p:spPr>
            <a:xfrm>
              <a:off x="0" y="685800"/>
              <a:ext cx="27940" cy="213360"/>
            </a:xfrm>
            <a:custGeom>
              <a:rect b="b" l="l" r="r" t="t"/>
              <a:pathLst>
                <a:path extrusionOk="0"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0"/>
            <p:cNvSpPr/>
            <p:nvPr/>
          </p:nvSpPr>
          <p:spPr>
            <a:xfrm>
              <a:off x="0" y="1057910"/>
              <a:ext cx="27940" cy="384810"/>
            </a:xfrm>
            <a:custGeom>
              <a:rect b="b" l="l" r="r" t="t"/>
              <a:pathLst>
                <a:path extrusionOk="0"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0"/>
            <p:cNvSpPr/>
            <p:nvPr/>
          </p:nvSpPr>
          <p:spPr>
            <a:xfrm>
              <a:off x="0" y="1526540"/>
              <a:ext cx="27940" cy="386080"/>
            </a:xfrm>
            <a:custGeom>
              <a:rect b="b" l="l" r="r" t="t"/>
              <a:pathLst>
                <a:path extrusionOk="0"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0"/>
            <p:cNvSpPr/>
            <p:nvPr/>
          </p:nvSpPr>
          <p:spPr>
            <a:xfrm>
              <a:off x="2592070" y="1184910"/>
              <a:ext cx="27940" cy="618490"/>
            </a:xfrm>
            <a:custGeom>
              <a:rect b="b" l="l" r="r" t="t"/>
              <a:pathLst>
                <a:path extrusionOk="0"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0"/>
            <p:cNvSpPr/>
            <p:nvPr/>
          </p:nvSpPr>
          <p:spPr>
            <a:xfrm>
              <a:off x="27940" y="0"/>
              <a:ext cx="2564130" cy="5182870"/>
            </a:xfrm>
            <a:custGeom>
              <a:rect b="b" l="l" r="r" t="t"/>
              <a:pathLst>
                <a:path extrusionOk="0"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0" name="Google Shape;260;p10"/>
          <p:cNvSpPr txBox="1"/>
          <p:nvPr/>
        </p:nvSpPr>
        <p:spPr>
          <a:xfrm>
            <a:off x="10064518" y="2936952"/>
            <a:ext cx="7521580" cy="1365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2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E0C58E"/>
                </a:solidFill>
                <a:latin typeface="Georgia"/>
                <a:ea typeface="Georgia"/>
                <a:cs typeface="Georgia"/>
                <a:sym typeface="Georgia"/>
              </a:rPr>
              <a:t>  • Designed to make financial management feel simple and straightforward  </a:t>
            </a:r>
            <a:endParaRPr/>
          </a:p>
        </p:txBody>
      </p:sp>
      <p:sp>
        <p:nvSpPr>
          <p:cNvPr id="261" name="Google Shape;261;p10"/>
          <p:cNvSpPr txBox="1"/>
          <p:nvPr/>
        </p:nvSpPr>
        <p:spPr>
          <a:xfrm>
            <a:off x="10202760" y="6659808"/>
            <a:ext cx="7521580" cy="1365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2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E0C58E"/>
                </a:solidFill>
                <a:latin typeface="Georgia"/>
                <a:ea typeface="Georgia"/>
                <a:cs typeface="Georgia"/>
                <a:sym typeface="Georgia"/>
              </a:rPr>
              <a:t>• A clear layout helps users understand their finances at a glance</a:t>
            </a:r>
            <a:endParaRPr/>
          </a:p>
        </p:txBody>
      </p:sp>
      <p:sp>
        <p:nvSpPr>
          <p:cNvPr id="262" name="Google Shape;262;p10"/>
          <p:cNvSpPr txBox="1"/>
          <p:nvPr/>
        </p:nvSpPr>
        <p:spPr>
          <a:xfrm>
            <a:off x="10064518" y="4713502"/>
            <a:ext cx="7521580" cy="20801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2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E0C58E"/>
                </a:solidFill>
                <a:latin typeface="Georgia"/>
                <a:ea typeface="Georgia"/>
                <a:cs typeface="Georgia"/>
                <a:sym typeface="Georgia"/>
              </a:rPr>
              <a:t>• Users can quickly access important actions without searching or overthinking </a:t>
            </a:r>
            <a:endParaRPr/>
          </a:p>
          <a:p>
            <a:pPr indent="0" lvl="0" marL="0" marR="0" rtl="0" algn="ctr">
              <a:lnSpc>
                <a:spcPct val="202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E0C58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F3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11"/>
          <p:cNvGrpSpPr/>
          <p:nvPr/>
        </p:nvGrpSpPr>
        <p:grpSpPr>
          <a:xfrm>
            <a:off x="6725840" y="917280"/>
            <a:ext cx="4158932" cy="8452291"/>
            <a:chOff x="0" y="0"/>
            <a:chExt cx="5000993" cy="10163632"/>
          </a:xfrm>
        </p:grpSpPr>
        <p:sp>
          <p:nvSpPr>
            <p:cNvPr id="268" name="Google Shape;268;p11"/>
            <p:cNvSpPr/>
            <p:nvPr/>
          </p:nvSpPr>
          <p:spPr>
            <a:xfrm>
              <a:off x="0" y="0"/>
              <a:ext cx="5000993" cy="10163632"/>
            </a:xfrm>
            <a:custGeom>
              <a:rect b="b" l="l" r="r" t="t"/>
              <a:pathLst>
                <a:path extrusionOk="0"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45" r="-45" t="0"/>
              </a:stretch>
            </a:blipFill>
            <a:ln>
              <a:noFill/>
            </a:ln>
          </p:spPr>
        </p:sp>
        <p:sp>
          <p:nvSpPr>
            <p:cNvPr id="269" name="Google Shape;269;p11"/>
            <p:cNvSpPr/>
            <p:nvPr/>
          </p:nvSpPr>
          <p:spPr>
            <a:xfrm>
              <a:off x="338760" y="288798"/>
              <a:ext cx="4330776" cy="9398000"/>
            </a:xfrm>
            <a:custGeom>
              <a:rect b="b" l="l" r="r" t="t"/>
              <a:pathLst>
                <a:path extrusionOk="0"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93" l="0" r="0" t="-93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0" name="Google Shape;270;p11"/>
          <p:cNvSpPr txBox="1"/>
          <p:nvPr/>
        </p:nvSpPr>
        <p:spPr>
          <a:xfrm>
            <a:off x="1209675" y="1710055"/>
            <a:ext cx="4328254" cy="6752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00" u="none" cap="none" strike="noStrike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Visual insights to help users make informed decisions</a:t>
            </a:r>
            <a:endParaRPr/>
          </a:p>
        </p:txBody>
      </p:sp>
      <p:grpSp>
        <p:nvGrpSpPr>
          <p:cNvPr id="271" name="Google Shape;271;p11"/>
          <p:cNvGrpSpPr/>
          <p:nvPr/>
        </p:nvGrpSpPr>
        <p:grpSpPr>
          <a:xfrm>
            <a:off x="11942657" y="3345710"/>
            <a:ext cx="5316643" cy="3241247"/>
            <a:chOff x="0" y="-47625"/>
            <a:chExt cx="7088857" cy="4321662"/>
          </a:xfrm>
        </p:grpSpPr>
        <p:sp>
          <p:nvSpPr>
            <p:cNvPr id="272" name="Google Shape;272;p11"/>
            <p:cNvSpPr txBox="1"/>
            <p:nvPr/>
          </p:nvSpPr>
          <p:spPr>
            <a:xfrm>
              <a:off x="0" y="954892"/>
              <a:ext cx="7088857" cy="331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Break down your expenses with intuitive visuals and actionable insights.</a:t>
              </a:r>
              <a:endParaRPr/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Stay in control, optimize your spending, and plan smarter for the future.</a:t>
              </a:r>
              <a:endParaRPr/>
            </a:p>
          </p:txBody>
        </p:sp>
        <p:sp>
          <p:nvSpPr>
            <p:cNvPr id="273" name="Google Shape;273;p11"/>
            <p:cNvSpPr txBox="1"/>
            <p:nvPr/>
          </p:nvSpPr>
          <p:spPr>
            <a:xfrm>
              <a:off x="0" y="-47625"/>
              <a:ext cx="7088857" cy="569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BD59"/>
                  </a:solidFill>
                  <a:latin typeface="Inter"/>
                  <a:ea typeface="Inter"/>
                  <a:cs typeface="Inter"/>
                  <a:sym typeface="Inter"/>
                </a:rPr>
                <a:t>SEE YOUR MONEY, CLEARLY</a:t>
              </a:r>
              <a:endParaRPr/>
            </a:p>
          </p:txBody>
        </p:sp>
      </p:grp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F3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oogle Shape;278;p12"/>
          <p:cNvGrpSpPr/>
          <p:nvPr/>
        </p:nvGrpSpPr>
        <p:grpSpPr>
          <a:xfrm>
            <a:off x="1632918" y="1518325"/>
            <a:ext cx="5092650" cy="10349909"/>
            <a:chOff x="0" y="0"/>
            <a:chExt cx="5000993" cy="10163632"/>
          </a:xfrm>
        </p:grpSpPr>
        <p:sp>
          <p:nvSpPr>
            <p:cNvPr id="279" name="Google Shape;279;p12"/>
            <p:cNvSpPr/>
            <p:nvPr/>
          </p:nvSpPr>
          <p:spPr>
            <a:xfrm>
              <a:off x="0" y="0"/>
              <a:ext cx="5000993" cy="10163632"/>
            </a:xfrm>
            <a:custGeom>
              <a:rect b="b" l="l" r="r" t="t"/>
              <a:pathLst>
                <a:path extrusionOk="0"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45" r="-45" t="0"/>
              </a:stretch>
            </a:blipFill>
            <a:ln>
              <a:noFill/>
            </a:ln>
          </p:spPr>
        </p:sp>
        <p:sp>
          <p:nvSpPr>
            <p:cNvPr id="280" name="Google Shape;280;p12"/>
            <p:cNvSpPr/>
            <p:nvPr/>
          </p:nvSpPr>
          <p:spPr>
            <a:xfrm>
              <a:off x="338760" y="288798"/>
              <a:ext cx="4330776" cy="9398000"/>
            </a:xfrm>
            <a:custGeom>
              <a:rect b="b" l="l" r="r" t="t"/>
              <a:pathLst>
                <a:path extrusionOk="0"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93" l="0" r="0" t="-93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1" name="Google Shape;281;p12"/>
          <p:cNvGrpSpPr/>
          <p:nvPr/>
        </p:nvGrpSpPr>
        <p:grpSpPr>
          <a:xfrm>
            <a:off x="5163123" y="917280"/>
            <a:ext cx="4158932" cy="8452291"/>
            <a:chOff x="0" y="0"/>
            <a:chExt cx="5000993" cy="10163632"/>
          </a:xfrm>
        </p:grpSpPr>
        <p:sp>
          <p:nvSpPr>
            <p:cNvPr id="282" name="Google Shape;282;p12"/>
            <p:cNvSpPr/>
            <p:nvPr/>
          </p:nvSpPr>
          <p:spPr>
            <a:xfrm>
              <a:off x="0" y="0"/>
              <a:ext cx="5000993" cy="10163632"/>
            </a:xfrm>
            <a:custGeom>
              <a:rect b="b" l="l" r="r" t="t"/>
              <a:pathLst>
                <a:path extrusionOk="0"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45" r="-45" t="0"/>
              </a:stretch>
            </a:blipFill>
            <a:ln>
              <a:noFill/>
            </a:ln>
          </p:spPr>
        </p:sp>
        <p:sp>
          <p:nvSpPr>
            <p:cNvPr id="283" name="Google Shape;283;p12"/>
            <p:cNvSpPr/>
            <p:nvPr/>
          </p:nvSpPr>
          <p:spPr>
            <a:xfrm>
              <a:off x="338760" y="288798"/>
              <a:ext cx="4330776" cy="9398000"/>
            </a:xfrm>
            <a:custGeom>
              <a:rect b="b" l="l" r="r" t="t"/>
              <a:pathLst>
                <a:path extrusionOk="0"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93" l="0" r="0" t="-93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4" name="Google Shape;284;p12"/>
          <p:cNvGrpSpPr/>
          <p:nvPr/>
        </p:nvGrpSpPr>
        <p:grpSpPr>
          <a:xfrm>
            <a:off x="11942657" y="2779212"/>
            <a:ext cx="5316643" cy="4692856"/>
            <a:chOff x="0" y="-47625"/>
            <a:chExt cx="7088857" cy="6257141"/>
          </a:xfrm>
        </p:grpSpPr>
        <p:sp>
          <p:nvSpPr>
            <p:cNvPr id="285" name="Google Shape;285;p12"/>
            <p:cNvSpPr txBox="1"/>
            <p:nvPr/>
          </p:nvSpPr>
          <p:spPr>
            <a:xfrm>
              <a:off x="0" y="1497817"/>
              <a:ext cx="7088857" cy="47116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b="0" i="0" lang="en-US" sz="24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Everything is organized so users don’t have to scroll endlessly trying to make sense of it  </a:t>
              </a:r>
              <a:endParaRPr/>
            </a:p>
            <a:p>
              <a:pPr indent="0" lvl="0" marL="0" marR="0" rtl="0" algn="l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• Filters and search make finding transactions quick and painless  </a:t>
              </a:r>
              <a:endParaRPr/>
            </a:p>
            <a:p>
              <a:pPr indent="0" lvl="0" marL="0" marR="0" rtl="0" algn="l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• Spending and income are clearly highlighted , no guessing required</a:t>
              </a:r>
              <a:endParaRPr/>
            </a:p>
          </p:txBody>
        </p:sp>
        <p:sp>
          <p:nvSpPr>
            <p:cNvPr id="286" name="Google Shape;286;p12"/>
            <p:cNvSpPr txBox="1"/>
            <p:nvPr/>
          </p:nvSpPr>
          <p:spPr>
            <a:xfrm>
              <a:off x="0" y="-47625"/>
              <a:ext cx="7088857" cy="11787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BD59"/>
                  </a:solidFill>
                  <a:latin typeface="Inter"/>
                  <a:ea typeface="Inter"/>
                  <a:cs typeface="Inter"/>
                  <a:sym typeface="Inter"/>
                </a:rPr>
                <a:t>EASY NAVIGATION FOR THE PAYMENTS</a:t>
              </a:r>
              <a:endParaRPr/>
            </a:p>
          </p:txBody>
        </p:sp>
      </p:grp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F3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"/>
          <p:cNvSpPr/>
          <p:nvPr/>
        </p:nvSpPr>
        <p:spPr>
          <a:xfrm>
            <a:off x="9007555" y="2145648"/>
            <a:ext cx="8251745" cy="1435287"/>
          </a:xfrm>
          <a:custGeom>
            <a:rect b="b" l="l" r="r" t="t"/>
            <a:pathLst>
              <a:path extrusionOk="0" h="3100982" w="17828143">
                <a:moveTo>
                  <a:pt x="17703684" y="3100981"/>
                </a:moveTo>
                <a:lnTo>
                  <a:pt x="124460" y="3100981"/>
                </a:lnTo>
                <a:cubicBezTo>
                  <a:pt x="55880" y="3100981"/>
                  <a:pt x="0" y="3045102"/>
                  <a:pt x="0" y="2976521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17703684" y="0"/>
                </a:lnTo>
                <a:cubicBezTo>
                  <a:pt x="17772262" y="0"/>
                  <a:pt x="17828143" y="55880"/>
                  <a:pt x="17828143" y="124460"/>
                </a:cubicBezTo>
                <a:lnTo>
                  <a:pt x="17828143" y="2976522"/>
                </a:lnTo>
                <a:cubicBezTo>
                  <a:pt x="17828143" y="3045102"/>
                  <a:pt x="17772262" y="3100982"/>
                  <a:pt x="17703684" y="3100982"/>
                </a:cubicBezTo>
                <a:close/>
              </a:path>
            </a:pathLst>
          </a:custGeom>
          <a:solidFill>
            <a:srgbClr val="E0C5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"/>
          <p:cNvSpPr txBox="1"/>
          <p:nvPr/>
        </p:nvSpPr>
        <p:spPr>
          <a:xfrm>
            <a:off x="9691707" y="2424277"/>
            <a:ext cx="6883440" cy="824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Finance is already stressful, anyone would like a  UI that isn’t.</a:t>
            </a:r>
            <a:endParaRPr/>
          </a:p>
        </p:txBody>
      </p:sp>
      <p:sp>
        <p:nvSpPr>
          <p:cNvPr id="297" name="Google Shape;297;p13"/>
          <p:cNvSpPr txBox="1"/>
          <p:nvPr/>
        </p:nvSpPr>
        <p:spPr>
          <a:xfrm>
            <a:off x="1028700" y="904875"/>
            <a:ext cx="7206695" cy="1086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00" u="none" cap="none" strike="noStrike">
                <a:solidFill>
                  <a:srgbClr val="F8F8F8"/>
                </a:solidFill>
                <a:latin typeface="Nunito Sans"/>
                <a:ea typeface="Nunito Sans"/>
                <a:cs typeface="Nunito Sans"/>
                <a:sym typeface="Nunito Sans"/>
              </a:rPr>
              <a:t>DESIGN GOALS</a:t>
            </a:r>
            <a:endParaRPr/>
          </a:p>
        </p:txBody>
      </p:sp>
      <p:sp>
        <p:nvSpPr>
          <p:cNvPr id="298" name="Google Shape;298;p13"/>
          <p:cNvSpPr/>
          <p:nvPr/>
        </p:nvSpPr>
        <p:spPr>
          <a:xfrm>
            <a:off x="9007555" y="4026023"/>
            <a:ext cx="8251745" cy="1196348"/>
          </a:xfrm>
          <a:custGeom>
            <a:rect b="b" l="l" r="r" t="t"/>
            <a:pathLst>
              <a:path extrusionOk="0" h="2584745" w="17828143">
                <a:moveTo>
                  <a:pt x="17703684" y="2584745"/>
                </a:moveTo>
                <a:lnTo>
                  <a:pt x="124460" y="2584745"/>
                </a:lnTo>
                <a:cubicBezTo>
                  <a:pt x="55880" y="2584745"/>
                  <a:pt x="0" y="2528865"/>
                  <a:pt x="0" y="2460285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17703684" y="0"/>
                </a:lnTo>
                <a:cubicBezTo>
                  <a:pt x="17772262" y="0"/>
                  <a:pt x="17828143" y="55880"/>
                  <a:pt x="17828143" y="124460"/>
                </a:cubicBezTo>
                <a:lnTo>
                  <a:pt x="17828143" y="2460285"/>
                </a:lnTo>
                <a:cubicBezTo>
                  <a:pt x="17828143" y="2528865"/>
                  <a:pt x="17772262" y="2584745"/>
                  <a:pt x="17703684" y="2584745"/>
                </a:cubicBezTo>
                <a:close/>
              </a:path>
            </a:pathLst>
          </a:custGeom>
          <a:solidFill>
            <a:srgbClr val="E0C5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9007555" y="5778974"/>
            <a:ext cx="8251745" cy="1196348"/>
          </a:xfrm>
          <a:custGeom>
            <a:rect b="b" l="l" r="r" t="t"/>
            <a:pathLst>
              <a:path extrusionOk="0" h="2584745" w="17828143">
                <a:moveTo>
                  <a:pt x="17703684" y="2584745"/>
                </a:moveTo>
                <a:lnTo>
                  <a:pt x="124460" y="2584745"/>
                </a:lnTo>
                <a:cubicBezTo>
                  <a:pt x="55880" y="2584745"/>
                  <a:pt x="0" y="2528865"/>
                  <a:pt x="0" y="2460285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17703684" y="0"/>
                </a:lnTo>
                <a:cubicBezTo>
                  <a:pt x="17772262" y="0"/>
                  <a:pt x="17828143" y="55880"/>
                  <a:pt x="17828143" y="124460"/>
                </a:cubicBezTo>
                <a:lnTo>
                  <a:pt x="17828143" y="2460285"/>
                </a:lnTo>
                <a:cubicBezTo>
                  <a:pt x="17828143" y="2528865"/>
                  <a:pt x="17772262" y="2584745"/>
                  <a:pt x="17703684" y="2584745"/>
                </a:cubicBezTo>
                <a:close/>
              </a:path>
            </a:pathLst>
          </a:custGeom>
          <a:solidFill>
            <a:srgbClr val="E0C5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"/>
          <p:cNvSpPr txBox="1"/>
          <p:nvPr/>
        </p:nvSpPr>
        <p:spPr>
          <a:xfrm>
            <a:off x="9480181" y="4187952"/>
            <a:ext cx="6883440" cy="824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Users should feel like they’re managing their money.</a:t>
            </a:r>
            <a:endParaRPr/>
          </a:p>
        </p:txBody>
      </p:sp>
      <p:sp>
        <p:nvSpPr>
          <p:cNvPr id="301" name="Google Shape;301;p13"/>
          <p:cNvSpPr txBox="1"/>
          <p:nvPr/>
        </p:nvSpPr>
        <p:spPr>
          <a:xfrm>
            <a:off x="1617723" y="6013898"/>
            <a:ext cx="6883440" cy="622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99" u="none" cap="none" strike="noStrike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CONSISTENT DESIGN</a:t>
            </a:r>
            <a:endParaRPr/>
          </a:p>
        </p:txBody>
      </p:sp>
      <p:sp>
        <p:nvSpPr>
          <p:cNvPr id="302" name="Google Shape;302;p13"/>
          <p:cNvSpPr txBox="1"/>
          <p:nvPr/>
        </p:nvSpPr>
        <p:spPr>
          <a:xfrm>
            <a:off x="1617723" y="2692794"/>
            <a:ext cx="6883440" cy="622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99" u="none" cap="none" strike="noStrike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SIMPLE UI</a:t>
            </a:r>
            <a:endParaRPr/>
          </a:p>
        </p:txBody>
      </p:sp>
      <p:sp>
        <p:nvSpPr>
          <p:cNvPr id="303" name="Google Shape;303;p13"/>
          <p:cNvSpPr txBox="1"/>
          <p:nvPr/>
        </p:nvSpPr>
        <p:spPr>
          <a:xfrm>
            <a:off x="1617723" y="4453699"/>
            <a:ext cx="6883440" cy="622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99" u="none" cap="none" strike="noStrike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CLEAR IDEA</a:t>
            </a:r>
            <a:endParaRPr/>
          </a:p>
        </p:txBody>
      </p:sp>
      <p:sp>
        <p:nvSpPr>
          <p:cNvPr id="304" name="Google Shape;304;p13"/>
          <p:cNvSpPr txBox="1"/>
          <p:nvPr/>
        </p:nvSpPr>
        <p:spPr>
          <a:xfrm>
            <a:off x="1617723" y="7521786"/>
            <a:ext cx="6883440" cy="622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99" u="none" cap="none" strike="noStrike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CLEARLY HANDLED</a:t>
            </a:r>
            <a:endParaRPr/>
          </a:p>
        </p:txBody>
      </p:sp>
      <p:sp>
        <p:nvSpPr>
          <p:cNvPr id="305" name="Google Shape;305;p13"/>
          <p:cNvSpPr txBox="1"/>
          <p:nvPr/>
        </p:nvSpPr>
        <p:spPr>
          <a:xfrm>
            <a:off x="9480181" y="5927221"/>
            <a:ext cx="6883440" cy="824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Same patterns everywhere so users don’t feel lost.</a:t>
            </a:r>
            <a:endParaRPr/>
          </a:p>
        </p:txBody>
      </p:sp>
      <p:sp>
        <p:nvSpPr>
          <p:cNvPr id="306" name="Google Shape;306;p13"/>
          <p:cNvSpPr/>
          <p:nvPr/>
        </p:nvSpPr>
        <p:spPr>
          <a:xfrm>
            <a:off x="9007555" y="7314069"/>
            <a:ext cx="8251745" cy="1472710"/>
          </a:xfrm>
          <a:custGeom>
            <a:rect b="b" l="l" r="r" t="t"/>
            <a:pathLst>
              <a:path extrusionOk="0" h="3181835" w="17828143">
                <a:moveTo>
                  <a:pt x="17703684" y="3181835"/>
                </a:moveTo>
                <a:lnTo>
                  <a:pt x="124460" y="3181835"/>
                </a:lnTo>
                <a:cubicBezTo>
                  <a:pt x="55880" y="3181835"/>
                  <a:pt x="0" y="3125955"/>
                  <a:pt x="0" y="3057375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17703684" y="0"/>
                </a:lnTo>
                <a:cubicBezTo>
                  <a:pt x="17772262" y="0"/>
                  <a:pt x="17828143" y="55880"/>
                  <a:pt x="17828143" y="124460"/>
                </a:cubicBezTo>
                <a:lnTo>
                  <a:pt x="17828143" y="3057375"/>
                </a:lnTo>
                <a:cubicBezTo>
                  <a:pt x="17828143" y="3125955"/>
                  <a:pt x="17772262" y="3181835"/>
                  <a:pt x="17703684" y="3181835"/>
                </a:cubicBezTo>
                <a:close/>
              </a:path>
            </a:pathLst>
          </a:custGeom>
          <a:solidFill>
            <a:srgbClr val="E0C5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3"/>
          <p:cNvSpPr txBox="1"/>
          <p:nvPr/>
        </p:nvSpPr>
        <p:spPr>
          <a:xfrm>
            <a:off x="9480181" y="7618911"/>
            <a:ext cx="6883440" cy="82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Users shouldn’t have to “figure things out” like it’s a puzzle.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F3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4"/>
          <p:cNvSpPr/>
          <p:nvPr/>
        </p:nvSpPr>
        <p:spPr>
          <a:xfrm>
            <a:off x="6976230" y="6771175"/>
            <a:ext cx="10921029" cy="2487125"/>
          </a:xfrm>
          <a:custGeom>
            <a:rect b="b" l="l" r="r" t="t"/>
            <a:pathLst>
              <a:path extrusionOk="0" h="2487125" w="10921029">
                <a:moveTo>
                  <a:pt x="0" y="0"/>
                </a:moveTo>
                <a:lnTo>
                  <a:pt x="10921028" y="0"/>
                </a:lnTo>
                <a:lnTo>
                  <a:pt x="10921028" y="2487125"/>
                </a:lnTo>
                <a:lnTo>
                  <a:pt x="0" y="2487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7" name="Google Shape;317;p14"/>
          <p:cNvSpPr/>
          <p:nvPr/>
        </p:nvSpPr>
        <p:spPr>
          <a:xfrm>
            <a:off x="459921" y="1677180"/>
            <a:ext cx="10921029" cy="2487125"/>
          </a:xfrm>
          <a:custGeom>
            <a:rect b="b" l="l" r="r" t="t"/>
            <a:pathLst>
              <a:path extrusionOk="0" h="2487125" w="10921029">
                <a:moveTo>
                  <a:pt x="0" y="0"/>
                </a:moveTo>
                <a:lnTo>
                  <a:pt x="10921029" y="0"/>
                </a:lnTo>
                <a:lnTo>
                  <a:pt x="10921029" y="2487125"/>
                </a:lnTo>
                <a:lnTo>
                  <a:pt x="0" y="2487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8" name="Google Shape;318;p14"/>
          <p:cNvSpPr txBox="1"/>
          <p:nvPr/>
        </p:nvSpPr>
        <p:spPr>
          <a:xfrm>
            <a:off x="5348108" y="4345305"/>
            <a:ext cx="9280249" cy="1434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0" u="none" cap="none" strike="noStrike">
                <a:solidFill>
                  <a:srgbClr val="F8F8F8"/>
                </a:solidFill>
                <a:latin typeface="Nunito Sans"/>
                <a:ea typeface="Nunito Sans"/>
                <a:cs typeface="Nunito Sans"/>
                <a:sym typeface="Nunito Sans"/>
              </a:rPr>
              <a:t>DESIGN SYSTEM</a:t>
            </a:r>
            <a:endParaRPr/>
          </a:p>
        </p:txBody>
      </p:sp>
    </p:spTree>
  </p:cSld>
  <p:clrMapOvr>
    <a:masterClrMapping/>
  </p:clrMapOvr>
  <p:transition spd="slow">
    <p:push dir="r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F3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5"/>
          <p:cNvSpPr/>
          <p:nvPr/>
        </p:nvSpPr>
        <p:spPr>
          <a:xfrm>
            <a:off x="1028700" y="6771175"/>
            <a:ext cx="10921029" cy="2487125"/>
          </a:xfrm>
          <a:custGeom>
            <a:rect b="b" l="l" r="r" t="t"/>
            <a:pathLst>
              <a:path extrusionOk="0" h="2487125" w="10921029">
                <a:moveTo>
                  <a:pt x="0" y="0"/>
                </a:moveTo>
                <a:lnTo>
                  <a:pt x="10921029" y="0"/>
                </a:lnTo>
                <a:lnTo>
                  <a:pt x="10921029" y="2487125"/>
                </a:lnTo>
                <a:lnTo>
                  <a:pt x="0" y="2487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4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8" name="Google Shape;328;p15"/>
          <p:cNvSpPr/>
          <p:nvPr/>
        </p:nvSpPr>
        <p:spPr>
          <a:xfrm>
            <a:off x="6857577" y="695156"/>
            <a:ext cx="10921029" cy="2487125"/>
          </a:xfrm>
          <a:custGeom>
            <a:rect b="b" l="l" r="r" t="t"/>
            <a:pathLst>
              <a:path extrusionOk="0" h="2487125" w="10921029">
                <a:moveTo>
                  <a:pt x="0" y="0"/>
                </a:moveTo>
                <a:lnTo>
                  <a:pt x="10921028" y="0"/>
                </a:lnTo>
                <a:lnTo>
                  <a:pt x="10921028" y="2487125"/>
                </a:lnTo>
                <a:lnTo>
                  <a:pt x="0" y="2487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9" name="Google Shape;329;p15"/>
          <p:cNvSpPr txBox="1"/>
          <p:nvPr/>
        </p:nvSpPr>
        <p:spPr>
          <a:xfrm>
            <a:off x="6578738" y="3563281"/>
            <a:ext cx="5958092" cy="1078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F8F8F8"/>
                </a:solidFill>
                <a:latin typeface="Nunito Sans"/>
                <a:ea typeface="Nunito Sans"/>
                <a:cs typeface="Nunito Sans"/>
                <a:sym typeface="Nunito Sans"/>
              </a:rPr>
              <a:t>BECASUE...</a:t>
            </a:r>
            <a:endParaRPr/>
          </a:p>
        </p:txBody>
      </p:sp>
      <p:sp>
        <p:nvSpPr>
          <p:cNvPr id="330" name="Google Shape;330;p15"/>
          <p:cNvSpPr txBox="1"/>
          <p:nvPr/>
        </p:nvSpPr>
        <p:spPr>
          <a:xfrm>
            <a:off x="5174380" y="5019675"/>
            <a:ext cx="7939240" cy="1038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8F8"/>
                </a:solidFill>
                <a:latin typeface="Geo"/>
                <a:ea typeface="Geo"/>
                <a:cs typeface="Geo"/>
                <a:sym typeface="Geo"/>
              </a:rPr>
              <a:t>IT’S AESTHETIC</a:t>
            </a:r>
            <a:endParaRPr/>
          </a:p>
        </p:txBody>
      </p:sp>
      <p:sp>
        <p:nvSpPr>
          <p:cNvPr id="331" name="Google Shape;331;p15"/>
          <p:cNvSpPr txBox="1"/>
          <p:nvPr/>
        </p:nvSpPr>
        <p:spPr>
          <a:xfrm>
            <a:off x="14073307" y="8852535"/>
            <a:ext cx="3394472" cy="405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anyway....I’ll explain -&gt;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F31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6"/>
          <p:cNvSpPr/>
          <p:nvPr/>
        </p:nvSpPr>
        <p:spPr>
          <a:xfrm>
            <a:off x="8664247" y="2335347"/>
            <a:ext cx="7635547" cy="1738898"/>
          </a:xfrm>
          <a:custGeom>
            <a:rect b="b" l="l" r="r" t="t"/>
            <a:pathLst>
              <a:path extrusionOk="0" h="1738898" w="7635547">
                <a:moveTo>
                  <a:pt x="0" y="0"/>
                </a:moveTo>
                <a:lnTo>
                  <a:pt x="7635548" y="0"/>
                </a:lnTo>
                <a:lnTo>
                  <a:pt x="7635548" y="1738898"/>
                </a:lnTo>
                <a:lnTo>
                  <a:pt x="0" y="17388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1" name="Google Shape;341;p16"/>
          <p:cNvSpPr/>
          <p:nvPr/>
        </p:nvSpPr>
        <p:spPr>
          <a:xfrm>
            <a:off x="8664247" y="4074245"/>
            <a:ext cx="7635547" cy="1738898"/>
          </a:xfrm>
          <a:custGeom>
            <a:rect b="b" l="l" r="r" t="t"/>
            <a:pathLst>
              <a:path extrusionOk="0" h="1738898" w="7635547">
                <a:moveTo>
                  <a:pt x="0" y="0"/>
                </a:moveTo>
                <a:lnTo>
                  <a:pt x="7635548" y="0"/>
                </a:lnTo>
                <a:lnTo>
                  <a:pt x="7635548" y="1738898"/>
                </a:lnTo>
                <a:lnTo>
                  <a:pt x="0" y="17388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2" name="Google Shape;342;p16"/>
          <p:cNvSpPr/>
          <p:nvPr/>
        </p:nvSpPr>
        <p:spPr>
          <a:xfrm>
            <a:off x="9144000" y="5813143"/>
            <a:ext cx="4279039" cy="1844006"/>
          </a:xfrm>
          <a:custGeom>
            <a:rect b="b" l="l" r="r" t="t"/>
            <a:pathLst>
              <a:path extrusionOk="0" h="1844006" w="4279039">
                <a:moveTo>
                  <a:pt x="0" y="0"/>
                </a:moveTo>
                <a:lnTo>
                  <a:pt x="4279039" y="0"/>
                </a:lnTo>
                <a:lnTo>
                  <a:pt x="4279039" y="1844006"/>
                </a:lnTo>
                <a:lnTo>
                  <a:pt x="0" y="18440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3" name="Google Shape;343;p16"/>
          <p:cNvSpPr txBox="1"/>
          <p:nvPr/>
        </p:nvSpPr>
        <p:spPr>
          <a:xfrm>
            <a:off x="4503876" y="584786"/>
            <a:ext cx="9280249" cy="1434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0" u="none" cap="none" strike="noStrike">
                <a:solidFill>
                  <a:srgbClr val="F8F8F8"/>
                </a:solidFill>
                <a:latin typeface="Nunito Sans"/>
                <a:ea typeface="Nunito Sans"/>
                <a:cs typeface="Nunito Sans"/>
                <a:sym typeface="Nunito Sans"/>
              </a:rPr>
              <a:t>DESIGN SYSTEM</a:t>
            </a:r>
            <a:endParaRPr/>
          </a:p>
        </p:txBody>
      </p:sp>
      <p:sp>
        <p:nvSpPr>
          <p:cNvPr id="344" name="Google Shape;344;p16"/>
          <p:cNvSpPr txBox="1"/>
          <p:nvPr/>
        </p:nvSpPr>
        <p:spPr>
          <a:xfrm>
            <a:off x="1028700" y="2581226"/>
            <a:ext cx="7214142" cy="118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E0C58E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E0C58E"/>
                </a:solidFill>
                <a:latin typeface="Geo"/>
                <a:ea typeface="Geo"/>
                <a:cs typeface="Geo"/>
                <a:sym typeface="Geo"/>
              </a:rPr>
              <a:t>Dark theme reduces visual strain and keeps focus on content</a:t>
            </a:r>
            <a:endParaRPr/>
          </a:p>
        </p:txBody>
      </p:sp>
      <p:sp>
        <p:nvSpPr>
          <p:cNvPr id="345" name="Google Shape;345;p16"/>
          <p:cNvSpPr txBox="1"/>
          <p:nvPr/>
        </p:nvSpPr>
        <p:spPr>
          <a:xfrm>
            <a:off x="1028700" y="4877019"/>
            <a:ext cx="7214142" cy="1780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E0C58E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E0C58E"/>
                </a:solidFill>
                <a:latin typeface="Geo"/>
                <a:ea typeface="Geo"/>
                <a:cs typeface="Geo"/>
                <a:sym typeface="Geo"/>
              </a:rPr>
              <a:t>Teal + Slight gold makes the app</a:t>
            </a:r>
            <a:endParaRPr/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E0C58E"/>
                </a:solidFill>
                <a:latin typeface="Geo"/>
                <a:ea typeface="Geo"/>
                <a:cs typeface="Geo"/>
                <a:sym typeface="Geo"/>
              </a:rPr>
              <a:t>look attractive and draws </a:t>
            </a:r>
            <a:endParaRPr/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E0C58E"/>
                </a:solidFill>
                <a:latin typeface="Geo"/>
                <a:ea typeface="Geo"/>
                <a:cs typeface="Geo"/>
                <a:sym typeface="Geo"/>
              </a:rPr>
              <a:t>attention</a:t>
            </a:r>
            <a:endParaRPr/>
          </a:p>
        </p:txBody>
      </p:sp>
    </p:spTree>
  </p:cSld>
  <p:clrMapOvr>
    <a:masterClrMapping/>
  </p:clrMapOvr>
  <p:transition>
    <p:push dir="r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F31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17"/>
          <p:cNvGrpSpPr/>
          <p:nvPr/>
        </p:nvGrpSpPr>
        <p:grpSpPr>
          <a:xfrm>
            <a:off x="1632918" y="1518325"/>
            <a:ext cx="5092650" cy="10349909"/>
            <a:chOff x="0" y="0"/>
            <a:chExt cx="5000993" cy="10163632"/>
          </a:xfrm>
        </p:grpSpPr>
        <p:sp>
          <p:nvSpPr>
            <p:cNvPr id="351" name="Google Shape;351;p17"/>
            <p:cNvSpPr/>
            <p:nvPr/>
          </p:nvSpPr>
          <p:spPr>
            <a:xfrm>
              <a:off x="0" y="0"/>
              <a:ext cx="5000993" cy="10163632"/>
            </a:xfrm>
            <a:custGeom>
              <a:rect b="b" l="l" r="r" t="t"/>
              <a:pathLst>
                <a:path extrusionOk="0"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45" r="-45" t="0"/>
              </a:stretch>
            </a:blipFill>
            <a:ln>
              <a:noFill/>
            </a:ln>
          </p:spPr>
        </p:sp>
        <p:sp>
          <p:nvSpPr>
            <p:cNvPr id="352" name="Google Shape;352;p17"/>
            <p:cNvSpPr/>
            <p:nvPr/>
          </p:nvSpPr>
          <p:spPr>
            <a:xfrm>
              <a:off x="338760" y="288798"/>
              <a:ext cx="4330776" cy="9398000"/>
            </a:xfrm>
            <a:custGeom>
              <a:rect b="b" l="l" r="r" t="t"/>
              <a:pathLst>
                <a:path extrusionOk="0"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287" l="0" r="0" t="-287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" name="Google Shape;353;p17"/>
          <p:cNvGrpSpPr/>
          <p:nvPr/>
        </p:nvGrpSpPr>
        <p:grpSpPr>
          <a:xfrm>
            <a:off x="5188542" y="805861"/>
            <a:ext cx="4158932" cy="8452291"/>
            <a:chOff x="0" y="0"/>
            <a:chExt cx="5000993" cy="10163632"/>
          </a:xfrm>
        </p:grpSpPr>
        <p:sp>
          <p:nvSpPr>
            <p:cNvPr id="354" name="Google Shape;354;p17"/>
            <p:cNvSpPr/>
            <p:nvPr/>
          </p:nvSpPr>
          <p:spPr>
            <a:xfrm>
              <a:off x="0" y="0"/>
              <a:ext cx="5000993" cy="10163632"/>
            </a:xfrm>
            <a:custGeom>
              <a:rect b="b" l="l" r="r" t="t"/>
              <a:pathLst>
                <a:path extrusionOk="0"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45" r="-45" t="0"/>
              </a:stretch>
            </a:blipFill>
            <a:ln>
              <a:noFill/>
            </a:ln>
          </p:spPr>
        </p:sp>
        <p:sp>
          <p:nvSpPr>
            <p:cNvPr id="355" name="Google Shape;355;p17"/>
            <p:cNvSpPr/>
            <p:nvPr/>
          </p:nvSpPr>
          <p:spPr>
            <a:xfrm>
              <a:off x="338760" y="288798"/>
              <a:ext cx="4330776" cy="9398000"/>
            </a:xfrm>
            <a:custGeom>
              <a:rect b="b" l="l" r="r" t="t"/>
              <a:pathLst>
                <a:path extrusionOk="0"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93" l="0" r="0" t="-93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6" name="Google Shape;356;p17"/>
          <p:cNvSpPr txBox="1"/>
          <p:nvPr/>
        </p:nvSpPr>
        <p:spPr>
          <a:xfrm>
            <a:off x="10882828" y="2551035"/>
            <a:ext cx="6156136" cy="1322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99" u="none" cap="none" strike="noStrike">
                <a:solidFill>
                  <a:srgbClr val="F9CF7E"/>
                </a:solidFill>
                <a:latin typeface="Geo"/>
                <a:ea typeface="Geo"/>
                <a:cs typeface="Geo"/>
                <a:sym typeface="Geo"/>
              </a:rPr>
              <a:t>Teal provides a calm and trustworthy base</a:t>
            </a:r>
            <a:endParaRPr/>
          </a:p>
        </p:txBody>
      </p:sp>
      <p:sp>
        <p:nvSpPr>
          <p:cNvPr id="357" name="Google Shape;357;p17"/>
          <p:cNvSpPr txBox="1"/>
          <p:nvPr/>
        </p:nvSpPr>
        <p:spPr>
          <a:xfrm>
            <a:off x="10882828" y="4635391"/>
            <a:ext cx="6156136" cy="1322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99" u="none" cap="none" strike="noStrike">
                <a:solidFill>
                  <a:srgbClr val="F9CF7E"/>
                </a:solidFill>
                <a:latin typeface="Geo"/>
                <a:ea typeface="Geo"/>
                <a:cs typeface="Geo"/>
                <a:sym typeface="Geo"/>
              </a:rPr>
              <a:t>Gold highlights guide attention to important actions</a:t>
            </a:r>
            <a:endParaRPr/>
          </a:p>
        </p:txBody>
      </p:sp>
    </p:spTree>
  </p:cSld>
  <p:clrMapOvr>
    <a:masterClrMapping/>
  </p:clrMapOvr>
  <p:transition>
    <p:wipe dir="l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F31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8"/>
          <p:cNvSpPr/>
          <p:nvPr/>
        </p:nvSpPr>
        <p:spPr>
          <a:xfrm>
            <a:off x="4592872" y="2988344"/>
            <a:ext cx="2704266" cy="1738898"/>
          </a:xfrm>
          <a:custGeom>
            <a:rect b="b" l="l" r="r" t="t"/>
            <a:pathLst>
              <a:path extrusionOk="0" h="1738898" w="2704266">
                <a:moveTo>
                  <a:pt x="0" y="0"/>
                </a:moveTo>
                <a:lnTo>
                  <a:pt x="2704266" y="0"/>
                </a:lnTo>
                <a:lnTo>
                  <a:pt x="2704266" y="1738898"/>
                </a:lnTo>
                <a:lnTo>
                  <a:pt x="0" y="17388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82350" t="0"/>
            </a:stretch>
          </a:blipFill>
          <a:ln>
            <a:noFill/>
          </a:ln>
        </p:spPr>
      </p:sp>
      <p:sp>
        <p:nvSpPr>
          <p:cNvPr id="367" name="Google Shape;367;p18"/>
          <p:cNvSpPr/>
          <p:nvPr/>
        </p:nvSpPr>
        <p:spPr>
          <a:xfrm>
            <a:off x="9659140" y="2988344"/>
            <a:ext cx="2729685" cy="1738898"/>
          </a:xfrm>
          <a:custGeom>
            <a:rect b="b" l="l" r="r" t="t"/>
            <a:pathLst>
              <a:path extrusionOk="0" h="1738898" w="2729685">
                <a:moveTo>
                  <a:pt x="0" y="0"/>
                </a:moveTo>
                <a:lnTo>
                  <a:pt x="2729685" y="0"/>
                </a:lnTo>
                <a:lnTo>
                  <a:pt x="2729685" y="1738898"/>
                </a:lnTo>
                <a:lnTo>
                  <a:pt x="0" y="17388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79720" r="0" t="0"/>
            </a:stretch>
          </a:blipFill>
          <a:ln>
            <a:noFill/>
          </a:ln>
        </p:spPr>
      </p:sp>
      <p:sp>
        <p:nvSpPr>
          <p:cNvPr id="368" name="Google Shape;368;p18"/>
          <p:cNvSpPr txBox="1"/>
          <p:nvPr/>
        </p:nvSpPr>
        <p:spPr>
          <a:xfrm>
            <a:off x="8140571" y="2898943"/>
            <a:ext cx="816769" cy="1717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9" u="none" cap="none" strike="noStrike">
                <a:solidFill>
                  <a:srgbClr val="004D48"/>
                </a:solidFill>
                <a:latin typeface="Geo"/>
                <a:ea typeface="Geo"/>
                <a:cs typeface="Geo"/>
                <a:sym typeface="Geo"/>
              </a:rPr>
              <a:t>+</a:t>
            </a:r>
            <a:endParaRPr/>
          </a:p>
        </p:txBody>
      </p:sp>
      <p:sp>
        <p:nvSpPr>
          <p:cNvPr id="369" name="Google Shape;369;p18"/>
          <p:cNvSpPr txBox="1"/>
          <p:nvPr/>
        </p:nvSpPr>
        <p:spPr>
          <a:xfrm>
            <a:off x="4409324" y="5096490"/>
            <a:ext cx="9096032" cy="2880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2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E0C58E"/>
                </a:solidFill>
                <a:latin typeface="Geo"/>
                <a:ea typeface="Geo"/>
                <a:cs typeface="Geo"/>
                <a:sym typeface="Geo"/>
              </a:rPr>
              <a:t>Together the two colors not only look visually appealing </a:t>
            </a:r>
            <a:endParaRPr/>
          </a:p>
          <a:p>
            <a:pPr indent="0" lvl="0" marL="0" marR="0" rtl="0" algn="ctr">
              <a:lnSpc>
                <a:spcPct val="172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E0C58E"/>
                </a:solidFill>
                <a:latin typeface="Geo"/>
                <a:ea typeface="Geo"/>
                <a:cs typeface="Geo"/>
                <a:sym typeface="Geo"/>
              </a:rPr>
              <a:t>But they also provide a premium and trustworthy feel</a:t>
            </a:r>
            <a:endParaRPr/>
          </a:p>
        </p:txBody>
      </p:sp>
      <p:grpSp>
        <p:nvGrpSpPr>
          <p:cNvPr id="370" name="Google Shape;370;p18"/>
          <p:cNvGrpSpPr/>
          <p:nvPr/>
        </p:nvGrpSpPr>
        <p:grpSpPr>
          <a:xfrm>
            <a:off x="-1079872" y="2040973"/>
            <a:ext cx="5092650" cy="10349909"/>
            <a:chOff x="0" y="0"/>
            <a:chExt cx="5000993" cy="10163632"/>
          </a:xfrm>
        </p:grpSpPr>
        <p:sp>
          <p:nvSpPr>
            <p:cNvPr id="371" name="Google Shape;371;p18"/>
            <p:cNvSpPr/>
            <p:nvPr/>
          </p:nvSpPr>
          <p:spPr>
            <a:xfrm>
              <a:off x="0" y="0"/>
              <a:ext cx="5000993" cy="10163632"/>
            </a:xfrm>
            <a:custGeom>
              <a:rect b="b" l="l" r="r" t="t"/>
              <a:pathLst>
                <a:path extrusionOk="0"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-45" r="-45" t="0"/>
              </a:stretch>
            </a:blipFill>
            <a:ln>
              <a:noFill/>
            </a:ln>
          </p:spPr>
        </p:sp>
        <p:sp>
          <p:nvSpPr>
            <p:cNvPr id="372" name="Google Shape;372;p18"/>
            <p:cNvSpPr/>
            <p:nvPr/>
          </p:nvSpPr>
          <p:spPr>
            <a:xfrm>
              <a:off x="338760" y="288798"/>
              <a:ext cx="4330776" cy="9398000"/>
            </a:xfrm>
            <a:custGeom>
              <a:rect b="b" l="l" r="r" t="t"/>
              <a:pathLst>
                <a:path extrusionOk="0"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287" l="0" r="0" t="-287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3" name="Google Shape;373;p18"/>
          <p:cNvGrpSpPr/>
          <p:nvPr/>
        </p:nvGrpSpPr>
        <p:grpSpPr>
          <a:xfrm>
            <a:off x="12549355" y="-524110"/>
            <a:ext cx="13194591" cy="7568258"/>
            <a:chOff x="0" y="0"/>
            <a:chExt cx="7981950" cy="4578350"/>
          </a:xfrm>
        </p:grpSpPr>
        <p:sp>
          <p:nvSpPr>
            <p:cNvPr id="374" name="Google Shape;374;p18"/>
            <p:cNvSpPr/>
            <p:nvPr/>
          </p:nvSpPr>
          <p:spPr>
            <a:xfrm>
              <a:off x="765810" y="21590"/>
              <a:ext cx="6451600" cy="4326890"/>
            </a:xfrm>
            <a:custGeom>
              <a:rect b="b" l="l" r="r" t="t"/>
              <a:pathLst>
                <a:path extrusionOk="0"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8"/>
            <p:cNvSpPr/>
            <p:nvPr/>
          </p:nvSpPr>
          <p:spPr>
            <a:xfrm>
              <a:off x="0" y="0"/>
              <a:ext cx="7981950" cy="4542790"/>
            </a:xfrm>
            <a:custGeom>
              <a:rect b="b" l="l" r="r" t="t"/>
              <a:pathLst>
                <a:path extrusionOk="0"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8"/>
            <p:cNvSpPr/>
            <p:nvPr/>
          </p:nvSpPr>
          <p:spPr>
            <a:xfrm>
              <a:off x="3460750" y="4349750"/>
              <a:ext cx="1059180" cy="96520"/>
            </a:xfrm>
            <a:custGeom>
              <a:rect b="b" l="l" r="r" t="t"/>
              <a:pathLst>
                <a:path extrusionOk="0"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7271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8"/>
            <p:cNvSpPr/>
            <p:nvPr/>
          </p:nvSpPr>
          <p:spPr>
            <a:xfrm>
              <a:off x="163830" y="4542790"/>
              <a:ext cx="7654290" cy="35560"/>
            </a:xfrm>
            <a:custGeom>
              <a:rect b="b" l="l" r="r" t="t"/>
              <a:pathLst>
                <a:path extrusionOk="0"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271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8"/>
            <p:cNvSpPr/>
            <p:nvPr/>
          </p:nvSpPr>
          <p:spPr>
            <a:xfrm>
              <a:off x="962660" y="276860"/>
              <a:ext cx="6055360" cy="3789680"/>
            </a:xfrm>
            <a:custGeom>
              <a:rect b="b" l="l" r="r" t="t"/>
              <a:pathLst>
                <a:path extrusionOk="0"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1858" l="0" r="0" t="-1858"/>
              </a:stretch>
            </a:blipFill>
            <a:ln>
              <a:noFill/>
            </a:ln>
          </p:spPr>
        </p:sp>
      </p:grp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F31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9"/>
          <p:cNvSpPr txBox="1"/>
          <p:nvPr/>
        </p:nvSpPr>
        <p:spPr>
          <a:xfrm>
            <a:off x="1028700" y="866775"/>
            <a:ext cx="9280249" cy="1434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0" u="none" cap="none" strike="noStrike">
                <a:solidFill>
                  <a:srgbClr val="F8F8F8"/>
                </a:solidFill>
                <a:latin typeface="Nunito Sans"/>
                <a:ea typeface="Nunito Sans"/>
                <a:cs typeface="Nunito Sans"/>
                <a:sym typeface="Nunito Sans"/>
              </a:rPr>
              <a:t>TYPOGRAPHY...</a:t>
            </a:r>
            <a:endParaRPr/>
          </a:p>
        </p:txBody>
      </p:sp>
      <p:sp>
        <p:nvSpPr>
          <p:cNvPr id="384" name="Google Shape;384;p19"/>
          <p:cNvSpPr txBox="1"/>
          <p:nvPr/>
        </p:nvSpPr>
        <p:spPr>
          <a:xfrm>
            <a:off x="7979051" y="2892227"/>
            <a:ext cx="9280249" cy="1424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0" u="none" cap="none" strike="noStrike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...INTER</a:t>
            </a:r>
            <a:endParaRPr/>
          </a:p>
        </p:txBody>
      </p:sp>
      <p:sp>
        <p:nvSpPr>
          <p:cNvPr id="385" name="Google Shape;385;p19"/>
          <p:cNvSpPr txBox="1"/>
          <p:nvPr/>
        </p:nvSpPr>
        <p:spPr>
          <a:xfrm>
            <a:off x="7942568" y="4578169"/>
            <a:ext cx="9353215" cy="238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E0C58E"/>
                </a:solidFill>
                <a:latin typeface="Inter"/>
                <a:ea typeface="Inter"/>
                <a:cs typeface="Inter"/>
                <a:sym typeface="Inter"/>
              </a:rPr>
              <a:t>Inter was used for body text and UI elements due to its high readability and clean, modern structure, making it ideal for digital interfaces.</a:t>
            </a:r>
            <a:endParaRPr/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E0C58E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F31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0"/>
          <p:cNvSpPr txBox="1"/>
          <p:nvPr/>
        </p:nvSpPr>
        <p:spPr>
          <a:xfrm>
            <a:off x="7960001" y="866775"/>
            <a:ext cx="9280249" cy="1434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0" u="none" cap="none" strike="noStrike">
                <a:solidFill>
                  <a:srgbClr val="F8F8F8"/>
                </a:solidFill>
                <a:latin typeface="Nunito Sans"/>
                <a:ea typeface="Nunito Sans"/>
                <a:cs typeface="Nunito Sans"/>
                <a:sym typeface="Nunito Sans"/>
              </a:rPr>
              <a:t>...TYPOGRAPHY</a:t>
            </a:r>
            <a:endParaRPr/>
          </a:p>
        </p:txBody>
      </p:sp>
      <p:sp>
        <p:nvSpPr>
          <p:cNvPr id="391" name="Google Shape;391;p20"/>
          <p:cNvSpPr txBox="1"/>
          <p:nvPr/>
        </p:nvSpPr>
        <p:spPr>
          <a:xfrm>
            <a:off x="1074708" y="3024496"/>
            <a:ext cx="9280249" cy="1434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0" u="none" cap="none" strike="noStrike">
                <a:solidFill>
                  <a:srgbClr val="F8F8F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JUDSON...</a:t>
            </a:r>
            <a:endParaRPr/>
          </a:p>
        </p:txBody>
      </p:sp>
      <p:sp>
        <p:nvSpPr>
          <p:cNvPr id="392" name="Google Shape;392;p20"/>
          <p:cNvSpPr txBox="1"/>
          <p:nvPr/>
        </p:nvSpPr>
        <p:spPr>
          <a:xfrm>
            <a:off x="1028700" y="4719964"/>
            <a:ext cx="9353215" cy="238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E0C58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Judson was used for headings to introduce contrast and add a subtle sense of elegance and personality to the interface.</a:t>
            </a:r>
            <a:endParaRPr/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E0C58E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F31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1"/>
          <p:cNvSpPr txBox="1"/>
          <p:nvPr/>
        </p:nvSpPr>
        <p:spPr>
          <a:xfrm>
            <a:off x="5316037" y="1016103"/>
            <a:ext cx="9280249" cy="1434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0" u="none" cap="none" strike="noStrike">
                <a:solidFill>
                  <a:srgbClr val="F8F8F8"/>
                </a:solidFill>
                <a:latin typeface="Nunito Sans"/>
                <a:ea typeface="Nunito Sans"/>
                <a:cs typeface="Nunito Sans"/>
                <a:sym typeface="Nunito Sans"/>
              </a:rPr>
              <a:t>TYPOGRAPHY</a:t>
            </a:r>
            <a:endParaRPr/>
          </a:p>
        </p:txBody>
      </p:sp>
      <p:sp>
        <p:nvSpPr>
          <p:cNvPr id="398" name="Google Shape;398;p21"/>
          <p:cNvSpPr txBox="1"/>
          <p:nvPr/>
        </p:nvSpPr>
        <p:spPr>
          <a:xfrm>
            <a:off x="1256843" y="2955227"/>
            <a:ext cx="15774314" cy="1979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99" u="none" cap="none" strike="noStrike">
                <a:solidFill>
                  <a:srgbClr val="E0C58E"/>
                </a:solidFill>
                <a:latin typeface="Nunito Sans"/>
                <a:ea typeface="Nunito Sans"/>
                <a:cs typeface="Nunito Sans"/>
                <a:sym typeface="Nunito Sans"/>
              </a:rPr>
              <a:t>The combination balances functionality (Inter) with visual character (Judson)</a:t>
            </a:r>
            <a:endParaRPr/>
          </a:p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799" u="none" cap="none" strike="noStrike">
              <a:solidFill>
                <a:srgbClr val="E0C58E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99" name="Google Shape;399;p21"/>
          <p:cNvSpPr txBox="1"/>
          <p:nvPr/>
        </p:nvSpPr>
        <p:spPr>
          <a:xfrm>
            <a:off x="1256843" y="5220034"/>
            <a:ext cx="15774314" cy="1313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99" u="none" cap="none" strike="noStrike">
                <a:solidFill>
                  <a:srgbClr val="E0C58E"/>
                </a:solidFill>
                <a:latin typeface="Arial"/>
                <a:ea typeface="Arial"/>
                <a:cs typeface="Arial"/>
                <a:sym typeface="Arial"/>
              </a:rPr>
              <a:t>I also used a pairing of sans-serif + serif pairing to create hierarchy and visual contrast without relying heavily on color or size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F31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2"/>
          <p:cNvSpPr txBox="1"/>
          <p:nvPr/>
        </p:nvSpPr>
        <p:spPr>
          <a:xfrm>
            <a:off x="5027625" y="4497070"/>
            <a:ext cx="7884319" cy="646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99" u="none" cap="none" strike="noStrike">
                <a:solidFill>
                  <a:srgbClr val="E0C58E"/>
                </a:solidFill>
                <a:latin typeface="Nunito Sans"/>
                <a:ea typeface="Nunito Sans"/>
                <a:cs typeface="Nunito Sans"/>
                <a:sym typeface="Nunito Sans"/>
              </a:rPr>
              <a:t>A sneak peek at the desktop designs</a:t>
            </a:r>
            <a:endParaRPr/>
          </a:p>
        </p:txBody>
      </p:sp>
    </p:spTree>
  </p:cSld>
  <p:clrMapOvr>
    <a:masterClrMapping/>
  </p:clrMapOvr>
  <p:transition>
    <p:circle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F31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23"/>
          <p:cNvGrpSpPr/>
          <p:nvPr/>
        </p:nvGrpSpPr>
        <p:grpSpPr>
          <a:xfrm>
            <a:off x="3266138" y="745178"/>
            <a:ext cx="13194591" cy="7568258"/>
            <a:chOff x="0" y="0"/>
            <a:chExt cx="7981950" cy="4578350"/>
          </a:xfrm>
        </p:grpSpPr>
        <p:sp>
          <p:nvSpPr>
            <p:cNvPr id="410" name="Google Shape;410;p23"/>
            <p:cNvSpPr/>
            <p:nvPr/>
          </p:nvSpPr>
          <p:spPr>
            <a:xfrm>
              <a:off x="765810" y="21590"/>
              <a:ext cx="6451600" cy="4326890"/>
            </a:xfrm>
            <a:custGeom>
              <a:rect b="b" l="l" r="r" t="t"/>
              <a:pathLst>
                <a:path extrusionOk="0"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3"/>
            <p:cNvSpPr/>
            <p:nvPr/>
          </p:nvSpPr>
          <p:spPr>
            <a:xfrm>
              <a:off x="0" y="0"/>
              <a:ext cx="7981950" cy="4542790"/>
            </a:xfrm>
            <a:custGeom>
              <a:rect b="b" l="l" r="r" t="t"/>
              <a:pathLst>
                <a:path extrusionOk="0"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3"/>
            <p:cNvSpPr/>
            <p:nvPr/>
          </p:nvSpPr>
          <p:spPr>
            <a:xfrm>
              <a:off x="3460750" y="4349750"/>
              <a:ext cx="1059180" cy="96520"/>
            </a:xfrm>
            <a:custGeom>
              <a:rect b="b" l="l" r="r" t="t"/>
              <a:pathLst>
                <a:path extrusionOk="0"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7271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3"/>
            <p:cNvSpPr/>
            <p:nvPr/>
          </p:nvSpPr>
          <p:spPr>
            <a:xfrm>
              <a:off x="163830" y="4542790"/>
              <a:ext cx="7654290" cy="35560"/>
            </a:xfrm>
            <a:custGeom>
              <a:rect b="b" l="l" r="r" t="t"/>
              <a:pathLst>
                <a:path extrusionOk="0"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271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3"/>
            <p:cNvSpPr/>
            <p:nvPr/>
          </p:nvSpPr>
          <p:spPr>
            <a:xfrm>
              <a:off x="962660" y="276860"/>
              <a:ext cx="6055360" cy="3789680"/>
            </a:xfrm>
            <a:custGeom>
              <a:rect b="b" l="l" r="r" t="t"/>
              <a:pathLst>
                <a:path extrusionOk="0"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1858" l="0" r="0" t="-1858"/>
              </a:stretch>
            </a:blipFill>
            <a:ln>
              <a:noFill/>
            </a:ln>
          </p:spPr>
        </p:sp>
      </p:grpSp>
      <p:grpSp>
        <p:nvGrpSpPr>
          <p:cNvPr id="415" name="Google Shape;415;p23"/>
          <p:cNvGrpSpPr/>
          <p:nvPr/>
        </p:nvGrpSpPr>
        <p:grpSpPr>
          <a:xfrm>
            <a:off x="0" y="8448595"/>
            <a:ext cx="18288000" cy="3251051"/>
            <a:chOff x="0" y="-47625"/>
            <a:chExt cx="4816593" cy="856244"/>
          </a:xfrm>
        </p:grpSpPr>
        <p:sp>
          <p:nvSpPr>
            <p:cNvPr id="416" name="Google Shape;416;p23"/>
            <p:cNvSpPr/>
            <p:nvPr/>
          </p:nvSpPr>
          <p:spPr>
            <a:xfrm>
              <a:off x="0" y="0"/>
              <a:ext cx="4816592" cy="808619"/>
            </a:xfrm>
            <a:custGeom>
              <a:rect b="b" l="l" r="r" t="t"/>
              <a:pathLst>
                <a:path extrusionOk="0" h="808619" w="4816592">
                  <a:moveTo>
                    <a:pt x="7197" y="0"/>
                  </a:moveTo>
                  <a:lnTo>
                    <a:pt x="4809396" y="0"/>
                  </a:lnTo>
                  <a:cubicBezTo>
                    <a:pt x="4811304" y="0"/>
                    <a:pt x="4813135" y="758"/>
                    <a:pt x="4814484" y="2108"/>
                  </a:cubicBezTo>
                  <a:cubicBezTo>
                    <a:pt x="4815834" y="3457"/>
                    <a:pt x="4816592" y="5288"/>
                    <a:pt x="4816592" y="7197"/>
                  </a:cubicBezTo>
                  <a:lnTo>
                    <a:pt x="4816592" y="801422"/>
                  </a:lnTo>
                  <a:cubicBezTo>
                    <a:pt x="4816592" y="805397"/>
                    <a:pt x="4813371" y="808619"/>
                    <a:pt x="4809396" y="808619"/>
                  </a:cubicBezTo>
                  <a:lnTo>
                    <a:pt x="7197" y="808619"/>
                  </a:lnTo>
                  <a:cubicBezTo>
                    <a:pt x="3222" y="808619"/>
                    <a:pt x="0" y="805397"/>
                    <a:pt x="0" y="801422"/>
                  </a:cubicBezTo>
                  <a:lnTo>
                    <a:pt x="0" y="7197"/>
                  </a:lnTo>
                  <a:cubicBezTo>
                    <a:pt x="0" y="3222"/>
                    <a:pt x="3222" y="0"/>
                    <a:pt x="7197" y="0"/>
                  </a:cubicBezTo>
                  <a:close/>
                </a:path>
              </a:pathLst>
            </a:custGeom>
            <a:solidFill>
              <a:srgbClr val="E0C5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3"/>
            <p:cNvSpPr txBox="1"/>
            <p:nvPr/>
          </p:nvSpPr>
          <p:spPr>
            <a:xfrm>
              <a:off x="0" y="-47625"/>
              <a:ext cx="4816593" cy="856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8" name="Google Shape;418;p23"/>
          <p:cNvSpPr txBox="1"/>
          <p:nvPr/>
        </p:nvSpPr>
        <p:spPr>
          <a:xfrm>
            <a:off x="1307230" y="8971280"/>
            <a:ext cx="15952070" cy="50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99" u="none" cap="none" strike="noStrike">
                <a:solidFill>
                  <a:srgbClr val="052F31"/>
                </a:solidFill>
                <a:latin typeface="Geo"/>
                <a:ea typeface="Geo"/>
                <a:cs typeface="Geo"/>
                <a:sym typeface="Geo"/>
              </a:rPr>
              <a:t>ACCESS YOUR FINANCE AND YOUR CARDS ANYTIME, ACROSS ALL DEVICES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F31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" name="Google Shape;423;p24"/>
          <p:cNvGrpSpPr/>
          <p:nvPr/>
        </p:nvGrpSpPr>
        <p:grpSpPr>
          <a:xfrm>
            <a:off x="8026218" y="745806"/>
            <a:ext cx="15333986" cy="8795389"/>
            <a:chOff x="0" y="0"/>
            <a:chExt cx="7981950" cy="4578350"/>
          </a:xfrm>
        </p:grpSpPr>
        <p:sp>
          <p:nvSpPr>
            <p:cNvPr id="424" name="Google Shape;424;p24"/>
            <p:cNvSpPr/>
            <p:nvPr/>
          </p:nvSpPr>
          <p:spPr>
            <a:xfrm>
              <a:off x="765810" y="21590"/>
              <a:ext cx="6451600" cy="4326890"/>
            </a:xfrm>
            <a:custGeom>
              <a:rect b="b" l="l" r="r" t="t"/>
              <a:pathLst>
                <a:path extrusionOk="0"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4"/>
            <p:cNvSpPr/>
            <p:nvPr/>
          </p:nvSpPr>
          <p:spPr>
            <a:xfrm>
              <a:off x="0" y="0"/>
              <a:ext cx="7981950" cy="4542790"/>
            </a:xfrm>
            <a:custGeom>
              <a:rect b="b" l="l" r="r" t="t"/>
              <a:pathLst>
                <a:path extrusionOk="0"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4"/>
            <p:cNvSpPr/>
            <p:nvPr/>
          </p:nvSpPr>
          <p:spPr>
            <a:xfrm>
              <a:off x="3460750" y="4349750"/>
              <a:ext cx="1059180" cy="96520"/>
            </a:xfrm>
            <a:custGeom>
              <a:rect b="b" l="l" r="r" t="t"/>
              <a:pathLst>
                <a:path extrusionOk="0"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7271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4"/>
            <p:cNvSpPr/>
            <p:nvPr/>
          </p:nvSpPr>
          <p:spPr>
            <a:xfrm>
              <a:off x="163830" y="4542790"/>
              <a:ext cx="7654290" cy="35560"/>
            </a:xfrm>
            <a:custGeom>
              <a:rect b="b" l="l" r="r" t="t"/>
              <a:pathLst>
                <a:path extrusionOk="0"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271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4"/>
            <p:cNvSpPr/>
            <p:nvPr/>
          </p:nvSpPr>
          <p:spPr>
            <a:xfrm>
              <a:off x="962660" y="276860"/>
              <a:ext cx="6055360" cy="3789680"/>
            </a:xfrm>
            <a:custGeom>
              <a:rect b="b" l="l" r="r" t="t"/>
              <a:pathLst>
                <a:path extrusionOk="0"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1858" l="0" r="0" t="-1858"/>
              </a:stretch>
            </a:blipFill>
            <a:ln>
              <a:noFill/>
            </a:ln>
          </p:spPr>
        </p:sp>
      </p:grpSp>
      <p:sp>
        <p:nvSpPr>
          <p:cNvPr id="429" name="Google Shape;429;p24"/>
          <p:cNvSpPr txBox="1"/>
          <p:nvPr/>
        </p:nvSpPr>
        <p:spPr>
          <a:xfrm>
            <a:off x="448449" y="1901980"/>
            <a:ext cx="7577769" cy="696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8620" lvl="1" marL="777240" marR="0" rtl="0" algn="ctr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ACCESS YOUR CARDS ACROSS ALL DEVICES</a:t>
            </a:r>
            <a:endParaRPr/>
          </a:p>
          <a:p>
            <a:pPr indent="-388620" lvl="1" marL="777240" marR="0" rtl="0" algn="ctr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 ALL CARDS IN ONE PLACE</a:t>
            </a:r>
            <a:endParaRPr/>
          </a:p>
          <a:p>
            <a:pPr indent="-388620" lvl="1" marL="777240" marR="0" rtl="0" algn="ctr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REAL-TIME TRANSACTION TRACKING</a:t>
            </a:r>
            <a:endParaRPr/>
          </a:p>
          <a:p>
            <a:pPr indent="-388620" lvl="1" marL="777240" marR="0" rtl="0" algn="ctr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INSTANTLY LOCK OR BLOCK CARDS</a:t>
            </a:r>
            <a:endParaRPr/>
          </a:p>
          <a:p>
            <a:pPr indent="0" lvl="0" marL="0" marR="0" rtl="0" algn="ctr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F31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5"/>
          <p:cNvSpPr txBox="1"/>
          <p:nvPr/>
        </p:nvSpPr>
        <p:spPr>
          <a:xfrm>
            <a:off x="6621148" y="3587198"/>
            <a:ext cx="5045704" cy="2326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FFBD59"/>
                </a:solidFill>
                <a:latin typeface="Georgia"/>
                <a:ea typeface="Georgia"/>
                <a:cs typeface="Georgia"/>
                <a:sym typeface="Georgia"/>
              </a:rPr>
              <a:t>YOUR FINANCIAL OVERVIEW, SIMPLIFIED</a:t>
            </a:r>
            <a:endParaRPr/>
          </a:p>
        </p:txBody>
      </p:sp>
    </p:spTree>
  </p:cSld>
  <p:clrMapOvr>
    <a:masterClrMapping/>
  </p:clrMapOvr>
  <p:transition spd="slow">
    <p:push dir="r"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F31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9" name="Google Shape;439;p26"/>
          <p:cNvGrpSpPr/>
          <p:nvPr/>
        </p:nvGrpSpPr>
        <p:grpSpPr>
          <a:xfrm>
            <a:off x="-5247663" y="745806"/>
            <a:ext cx="15333986" cy="8795389"/>
            <a:chOff x="0" y="0"/>
            <a:chExt cx="7981950" cy="4578350"/>
          </a:xfrm>
        </p:grpSpPr>
        <p:sp>
          <p:nvSpPr>
            <p:cNvPr id="440" name="Google Shape;440;p26"/>
            <p:cNvSpPr/>
            <p:nvPr/>
          </p:nvSpPr>
          <p:spPr>
            <a:xfrm>
              <a:off x="765810" y="21590"/>
              <a:ext cx="6451600" cy="4326890"/>
            </a:xfrm>
            <a:custGeom>
              <a:rect b="b" l="l" r="r" t="t"/>
              <a:pathLst>
                <a:path extrusionOk="0"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6"/>
            <p:cNvSpPr/>
            <p:nvPr/>
          </p:nvSpPr>
          <p:spPr>
            <a:xfrm>
              <a:off x="0" y="0"/>
              <a:ext cx="7981950" cy="4542790"/>
            </a:xfrm>
            <a:custGeom>
              <a:rect b="b" l="l" r="r" t="t"/>
              <a:pathLst>
                <a:path extrusionOk="0"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6"/>
            <p:cNvSpPr/>
            <p:nvPr/>
          </p:nvSpPr>
          <p:spPr>
            <a:xfrm>
              <a:off x="3460750" y="4349750"/>
              <a:ext cx="1059180" cy="96520"/>
            </a:xfrm>
            <a:custGeom>
              <a:rect b="b" l="l" r="r" t="t"/>
              <a:pathLst>
                <a:path extrusionOk="0"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7271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6"/>
            <p:cNvSpPr/>
            <p:nvPr/>
          </p:nvSpPr>
          <p:spPr>
            <a:xfrm>
              <a:off x="163830" y="4542790"/>
              <a:ext cx="7654290" cy="35560"/>
            </a:xfrm>
            <a:custGeom>
              <a:rect b="b" l="l" r="r" t="t"/>
              <a:pathLst>
                <a:path extrusionOk="0"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271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6"/>
            <p:cNvSpPr/>
            <p:nvPr/>
          </p:nvSpPr>
          <p:spPr>
            <a:xfrm>
              <a:off x="962660" y="276860"/>
              <a:ext cx="6055360" cy="3789680"/>
            </a:xfrm>
            <a:custGeom>
              <a:rect b="b" l="l" r="r" t="t"/>
              <a:pathLst>
                <a:path extrusionOk="0"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8103" l="0" r="0" t="-8103"/>
              </a:stretch>
            </a:blipFill>
            <a:ln>
              <a:noFill/>
            </a:ln>
          </p:spPr>
        </p:sp>
      </p:grpSp>
      <p:grpSp>
        <p:nvGrpSpPr>
          <p:cNvPr id="445" name="Google Shape;445;p26"/>
          <p:cNvGrpSpPr/>
          <p:nvPr/>
        </p:nvGrpSpPr>
        <p:grpSpPr>
          <a:xfrm>
            <a:off x="11537523" y="-180826"/>
            <a:ext cx="6750477" cy="10467826"/>
            <a:chOff x="0" y="-47625"/>
            <a:chExt cx="1777904" cy="2756958"/>
          </a:xfrm>
        </p:grpSpPr>
        <p:sp>
          <p:nvSpPr>
            <p:cNvPr id="446" name="Google Shape;446;p26"/>
            <p:cNvSpPr/>
            <p:nvPr/>
          </p:nvSpPr>
          <p:spPr>
            <a:xfrm>
              <a:off x="0" y="0"/>
              <a:ext cx="1777903" cy="2709333"/>
            </a:xfrm>
            <a:custGeom>
              <a:rect b="b" l="l" r="r" t="t"/>
              <a:pathLst>
                <a:path extrusionOk="0" h="2709333" w="1777903">
                  <a:moveTo>
                    <a:pt x="19497" y="0"/>
                  </a:moveTo>
                  <a:lnTo>
                    <a:pt x="1758407" y="0"/>
                  </a:lnTo>
                  <a:cubicBezTo>
                    <a:pt x="1763578" y="0"/>
                    <a:pt x="1768537" y="2054"/>
                    <a:pt x="1772193" y="5710"/>
                  </a:cubicBezTo>
                  <a:cubicBezTo>
                    <a:pt x="1775849" y="9367"/>
                    <a:pt x="1777903" y="14326"/>
                    <a:pt x="1777903" y="19497"/>
                  </a:cubicBezTo>
                  <a:lnTo>
                    <a:pt x="1777903" y="2689836"/>
                  </a:lnTo>
                  <a:cubicBezTo>
                    <a:pt x="1777903" y="2695007"/>
                    <a:pt x="1775849" y="2699966"/>
                    <a:pt x="1772193" y="2703623"/>
                  </a:cubicBezTo>
                  <a:cubicBezTo>
                    <a:pt x="1768537" y="2707279"/>
                    <a:pt x="1763578" y="2709333"/>
                    <a:pt x="1758407" y="2709333"/>
                  </a:cubicBezTo>
                  <a:lnTo>
                    <a:pt x="19497" y="2709333"/>
                  </a:lnTo>
                  <a:cubicBezTo>
                    <a:pt x="14326" y="2709333"/>
                    <a:pt x="9367" y="2707279"/>
                    <a:pt x="5710" y="2703623"/>
                  </a:cubicBezTo>
                  <a:cubicBezTo>
                    <a:pt x="2054" y="2699966"/>
                    <a:pt x="0" y="2695007"/>
                    <a:pt x="0" y="2689836"/>
                  </a:cubicBezTo>
                  <a:lnTo>
                    <a:pt x="0" y="19497"/>
                  </a:lnTo>
                  <a:cubicBezTo>
                    <a:pt x="0" y="14326"/>
                    <a:pt x="2054" y="9367"/>
                    <a:pt x="5710" y="5710"/>
                  </a:cubicBezTo>
                  <a:cubicBezTo>
                    <a:pt x="9367" y="2054"/>
                    <a:pt x="14326" y="0"/>
                    <a:pt x="19497" y="0"/>
                  </a:cubicBezTo>
                  <a:close/>
                </a:path>
              </a:pathLst>
            </a:custGeom>
            <a:solidFill>
              <a:srgbClr val="E0C5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6"/>
            <p:cNvSpPr txBox="1"/>
            <p:nvPr/>
          </p:nvSpPr>
          <p:spPr>
            <a:xfrm>
              <a:off x="0" y="-47625"/>
              <a:ext cx="1777904" cy="2756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8" name="Google Shape;448;p26"/>
          <p:cNvSpPr txBox="1"/>
          <p:nvPr/>
        </p:nvSpPr>
        <p:spPr>
          <a:xfrm>
            <a:off x="11342429" y="1446916"/>
            <a:ext cx="6945571" cy="7012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74986" lvl="1" marL="949972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52F31"/>
              </a:buClr>
              <a:buSzPts val="4400"/>
              <a:buFont typeface="Arial"/>
              <a:buChar char="•"/>
            </a:pPr>
            <a:r>
              <a:rPr b="0" i="0" lang="en-US" sz="4400" u="none" cap="none" strike="noStrike">
                <a:solidFill>
                  <a:srgbClr val="052F31"/>
                </a:solidFill>
                <a:latin typeface="Georgia"/>
                <a:ea typeface="Georgia"/>
                <a:cs typeface="Georgia"/>
                <a:sym typeface="Georgia"/>
              </a:rPr>
              <a:t>Unified view of all financial activities</a:t>
            </a:r>
            <a:endParaRPr/>
          </a:p>
          <a:p>
            <a:pPr indent="-474986" lvl="1" marL="949972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52F31"/>
              </a:buClr>
              <a:buSzPts val="4400"/>
              <a:buFont typeface="Arial"/>
              <a:buChar char="•"/>
            </a:pPr>
            <a:r>
              <a:rPr b="0" i="0" lang="en-US" sz="4400" u="none" cap="none" strike="noStrike">
                <a:solidFill>
                  <a:srgbClr val="052F31"/>
                </a:solidFill>
                <a:latin typeface="Georgia"/>
                <a:ea typeface="Georgia"/>
                <a:cs typeface="Georgia"/>
                <a:sym typeface="Georgia"/>
              </a:rPr>
              <a:t>Smart insights through visual analytics</a:t>
            </a:r>
            <a:endParaRPr/>
          </a:p>
          <a:p>
            <a:pPr indent="-474986" lvl="1" marL="949972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52F31"/>
              </a:buClr>
              <a:buSzPts val="4400"/>
              <a:buFont typeface="Arial"/>
              <a:buChar char="•"/>
            </a:pPr>
            <a:r>
              <a:rPr b="0" i="0" lang="en-US" sz="4400" u="none" cap="none" strike="noStrike">
                <a:solidFill>
                  <a:srgbClr val="052F31"/>
                </a:solidFill>
                <a:latin typeface="Georgia"/>
                <a:ea typeface="Georgia"/>
                <a:cs typeface="Georgia"/>
                <a:sym typeface="Georgia"/>
              </a:rPr>
              <a:t>Real-time tracking of goals and spending</a:t>
            </a:r>
            <a:endParaRPr/>
          </a:p>
          <a:p>
            <a:pPr indent="-474986" lvl="1" marL="949972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52F31"/>
              </a:buClr>
              <a:buSzPts val="4400"/>
              <a:buFont typeface="Arial"/>
              <a:buChar char="•"/>
            </a:pPr>
            <a:r>
              <a:rPr b="0" i="0" lang="en-US" sz="4400" u="none" cap="none" strike="noStrike">
                <a:solidFill>
                  <a:srgbClr val="052F31"/>
                </a:solidFill>
                <a:latin typeface="Georgia"/>
                <a:ea typeface="Georgia"/>
                <a:cs typeface="Georgia"/>
                <a:sym typeface="Georgia"/>
              </a:rPr>
              <a:t>Timely updates for better decision-making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 cap="none" strike="noStrike">
              <a:solidFill>
                <a:srgbClr val="052F3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F31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7"/>
          <p:cNvSpPr txBox="1"/>
          <p:nvPr/>
        </p:nvSpPr>
        <p:spPr>
          <a:xfrm>
            <a:off x="1028700" y="914400"/>
            <a:ext cx="5981317" cy="962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99" u="none" cap="none" strike="noStrike">
                <a:solidFill>
                  <a:srgbClr val="E0C58E"/>
                </a:solidFill>
                <a:latin typeface="Georgia"/>
                <a:ea typeface="Georgia"/>
                <a:cs typeface="Georgia"/>
                <a:sym typeface="Georgia"/>
              </a:rPr>
              <a:t>Prototype Link</a:t>
            </a:r>
            <a:endParaRPr/>
          </a:p>
        </p:txBody>
      </p:sp>
      <p:sp>
        <p:nvSpPr>
          <p:cNvPr id="454" name="Google Shape;454;p27"/>
          <p:cNvSpPr txBox="1"/>
          <p:nvPr/>
        </p:nvSpPr>
        <p:spPr>
          <a:xfrm>
            <a:off x="1028700" y="2261557"/>
            <a:ext cx="5981317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E0C58E"/>
                </a:solidFill>
                <a:latin typeface="Georgia"/>
                <a:ea typeface="Georgia"/>
                <a:cs typeface="Georgia"/>
                <a:sym typeface="Georgia"/>
              </a:rPr>
              <a:t>Try out the prototype! </a:t>
            </a:r>
            <a:endParaRPr/>
          </a:p>
        </p:txBody>
      </p:sp>
      <p:sp>
        <p:nvSpPr>
          <p:cNvPr id="455" name="Google Shape;455;p27"/>
          <p:cNvSpPr txBox="1"/>
          <p:nvPr/>
        </p:nvSpPr>
        <p:spPr>
          <a:xfrm>
            <a:off x="8388576" y="2261557"/>
            <a:ext cx="1142524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sng" cap="none" strike="noStrike">
                <a:solidFill>
                  <a:srgbClr val="004D48"/>
                </a:solidFill>
                <a:latin typeface="Georgia"/>
                <a:ea typeface="Georgia"/>
                <a:cs typeface="Georgia"/>
                <a:sym typeface="Georgi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Finio</a:t>
            </a:r>
            <a:r>
              <a:rPr b="0" i="0" lang="en-US" sz="3399" u="none" cap="none" strike="noStrike">
                <a:solidFill>
                  <a:srgbClr val="004D48"/>
                </a:solidFill>
                <a:latin typeface="Georgia"/>
                <a:ea typeface="Georgia"/>
                <a:cs typeface="Georgia"/>
                <a:sym typeface="Georgia"/>
              </a:rPr>
              <a:t>!</a:t>
            </a:r>
            <a:endParaRPr/>
          </a:p>
        </p:txBody>
      </p:sp>
    </p:spTree>
  </p:cSld>
  <p:clrMapOvr>
    <a:masterClrMapping/>
  </p:clrMapOvr>
  <p:transition>
    <p:circle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F31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p28"/>
          <p:cNvGrpSpPr/>
          <p:nvPr/>
        </p:nvGrpSpPr>
        <p:grpSpPr>
          <a:xfrm>
            <a:off x="-5138588" y="2718742"/>
            <a:ext cx="13194591" cy="7568258"/>
            <a:chOff x="0" y="0"/>
            <a:chExt cx="7981950" cy="4578350"/>
          </a:xfrm>
        </p:grpSpPr>
        <p:sp>
          <p:nvSpPr>
            <p:cNvPr id="461" name="Google Shape;461;p28"/>
            <p:cNvSpPr/>
            <p:nvPr/>
          </p:nvSpPr>
          <p:spPr>
            <a:xfrm>
              <a:off x="765810" y="21590"/>
              <a:ext cx="6451600" cy="4326890"/>
            </a:xfrm>
            <a:custGeom>
              <a:rect b="b" l="l" r="r" t="t"/>
              <a:pathLst>
                <a:path extrusionOk="0"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>
                <a:alpha val="7882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8"/>
            <p:cNvSpPr/>
            <p:nvPr/>
          </p:nvSpPr>
          <p:spPr>
            <a:xfrm>
              <a:off x="0" y="0"/>
              <a:ext cx="7981950" cy="4542790"/>
            </a:xfrm>
            <a:custGeom>
              <a:rect b="b" l="l" r="r" t="t"/>
              <a:pathLst>
                <a:path extrusionOk="0"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69696">
                <a:alpha val="7882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8"/>
            <p:cNvSpPr/>
            <p:nvPr/>
          </p:nvSpPr>
          <p:spPr>
            <a:xfrm>
              <a:off x="3460750" y="4349750"/>
              <a:ext cx="1059180" cy="96520"/>
            </a:xfrm>
            <a:custGeom>
              <a:rect b="b" l="l" r="r" t="t"/>
              <a:pathLst>
                <a:path extrusionOk="0"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727171">
                <a:alpha val="7882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8"/>
            <p:cNvSpPr/>
            <p:nvPr/>
          </p:nvSpPr>
          <p:spPr>
            <a:xfrm>
              <a:off x="163830" y="4542790"/>
              <a:ext cx="7654290" cy="35560"/>
            </a:xfrm>
            <a:custGeom>
              <a:rect b="b" l="l" r="r" t="t"/>
              <a:pathLst>
                <a:path extrusionOk="0"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27171">
                <a:alpha val="7882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8"/>
            <p:cNvSpPr/>
            <p:nvPr/>
          </p:nvSpPr>
          <p:spPr>
            <a:xfrm>
              <a:off x="962660" y="276860"/>
              <a:ext cx="6055360" cy="3789680"/>
            </a:xfrm>
            <a:custGeom>
              <a:rect b="b" l="l" r="r" t="t"/>
              <a:pathLst>
                <a:path extrusionOk="0"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 rotWithShape="1">
              <a:blip r:embed="rId3">
                <a:alphaModFix amt="79000"/>
              </a:blip>
              <a:stretch>
                <a:fillRect b="-1858" l="0" r="0" t="-1858"/>
              </a:stretch>
            </a:blipFill>
            <a:ln>
              <a:noFill/>
            </a:ln>
          </p:spPr>
        </p:sp>
      </p:grpSp>
      <p:grpSp>
        <p:nvGrpSpPr>
          <p:cNvPr id="466" name="Google Shape;466;p28"/>
          <p:cNvGrpSpPr/>
          <p:nvPr/>
        </p:nvGrpSpPr>
        <p:grpSpPr>
          <a:xfrm rot="1239766">
            <a:off x="11104307" y="2542772"/>
            <a:ext cx="4803152" cy="9761555"/>
            <a:chOff x="0" y="0"/>
            <a:chExt cx="5000993" cy="10163632"/>
          </a:xfrm>
        </p:grpSpPr>
        <p:sp>
          <p:nvSpPr>
            <p:cNvPr id="467" name="Google Shape;467;p28"/>
            <p:cNvSpPr/>
            <p:nvPr/>
          </p:nvSpPr>
          <p:spPr>
            <a:xfrm>
              <a:off x="0" y="0"/>
              <a:ext cx="5000993" cy="10163632"/>
            </a:xfrm>
            <a:custGeom>
              <a:rect b="b" l="l" r="r" t="t"/>
              <a:pathLst>
                <a:path extrusionOk="0"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5" r="-45" t="0"/>
              </a:stretch>
            </a:blipFill>
            <a:ln>
              <a:noFill/>
            </a:ln>
          </p:spPr>
        </p:sp>
        <p:sp>
          <p:nvSpPr>
            <p:cNvPr id="468" name="Google Shape;468;p28"/>
            <p:cNvSpPr/>
            <p:nvPr/>
          </p:nvSpPr>
          <p:spPr>
            <a:xfrm>
              <a:off x="338760" y="288798"/>
              <a:ext cx="4330776" cy="9398000"/>
            </a:xfrm>
            <a:custGeom>
              <a:rect b="b" l="l" r="r" t="t"/>
              <a:pathLst>
                <a:path extrusionOk="0"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89" l="0" r="0" t="-89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9" name="Google Shape;469;p28"/>
          <p:cNvGrpSpPr/>
          <p:nvPr/>
        </p:nvGrpSpPr>
        <p:grpSpPr>
          <a:xfrm rot="1239766">
            <a:off x="14773841" y="-7187486"/>
            <a:ext cx="4803152" cy="9761555"/>
            <a:chOff x="0" y="0"/>
            <a:chExt cx="5000993" cy="10163632"/>
          </a:xfrm>
        </p:grpSpPr>
        <p:sp>
          <p:nvSpPr>
            <p:cNvPr id="470" name="Google Shape;470;p28"/>
            <p:cNvSpPr/>
            <p:nvPr/>
          </p:nvSpPr>
          <p:spPr>
            <a:xfrm>
              <a:off x="0" y="0"/>
              <a:ext cx="5000993" cy="10163632"/>
            </a:xfrm>
            <a:custGeom>
              <a:rect b="b" l="l" r="r" t="t"/>
              <a:pathLst>
                <a:path extrusionOk="0"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5" r="-45" t="0"/>
              </a:stretch>
            </a:blipFill>
            <a:ln>
              <a:noFill/>
            </a:ln>
          </p:spPr>
        </p:sp>
        <p:sp>
          <p:nvSpPr>
            <p:cNvPr id="471" name="Google Shape;471;p28"/>
            <p:cNvSpPr/>
            <p:nvPr/>
          </p:nvSpPr>
          <p:spPr>
            <a:xfrm>
              <a:off x="338760" y="288798"/>
              <a:ext cx="4330776" cy="9398000"/>
            </a:xfrm>
            <a:custGeom>
              <a:rect b="b" l="l" r="r" t="t"/>
              <a:pathLst>
                <a:path extrusionOk="0"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93" l="0" r="0" t="-93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2" name="Google Shape;472;p28"/>
          <p:cNvGrpSpPr/>
          <p:nvPr/>
        </p:nvGrpSpPr>
        <p:grpSpPr>
          <a:xfrm rot="1239766">
            <a:off x="14848674" y="8093680"/>
            <a:ext cx="4803152" cy="9761555"/>
            <a:chOff x="0" y="0"/>
            <a:chExt cx="5000993" cy="10163632"/>
          </a:xfrm>
        </p:grpSpPr>
        <p:sp>
          <p:nvSpPr>
            <p:cNvPr id="473" name="Google Shape;473;p28"/>
            <p:cNvSpPr/>
            <p:nvPr/>
          </p:nvSpPr>
          <p:spPr>
            <a:xfrm>
              <a:off x="0" y="0"/>
              <a:ext cx="5000993" cy="10163632"/>
            </a:xfrm>
            <a:custGeom>
              <a:rect b="b" l="l" r="r" t="t"/>
              <a:pathLst>
                <a:path extrusionOk="0"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5" r="-45" t="0"/>
              </a:stretch>
            </a:blipFill>
            <a:ln>
              <a:noFill/>
            </a:ln>
          </p:spPr>
        </p:sp>
        <p:sp>
          <p:nvSpPr>
            <p:cNvPr id="474" name="Google Shape;474;p28"/>
            <p:cNvSpPr/>
            <p:nvPr/>
          </p:nvSpPr>
          <p:spPr>
            <a:xfrm>
              <a:off x="338760" y="288798"/>
              <a:ext cx="4330776" cy="9398000"/>
            </a:xfrm>
            <a:custGeom>
              <a:rect b="b" l="l" r="r" t="t"/>
              <a:pathLst>
                <a:path extrusionOk="0"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8398" l="0" r="0" t="-8398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5" name="Google Shape;475;p28"/>
          <p:cNvGrpSpPr/>
          <p:nvPr/>
        </p:nvGrpSpPr>
        <p:grpSpPr>
          <a:xfrm rot="1239766">
            <a:off x="8417987" y="-5521980"/>
            <a:ext cx="4803152" cy="9761555"/>
            <a:chOff x="0" y="0"/>
            <a:chExt cx="5000993" cy="10163632"/>
          </a:xfrm>
        </p:grpSpPr>
        <p:sp>
          <p:nvSpPr>
            <p:cNvPr id="476" name="Google Shape;476;p28"/>
            <p:cNvSpPr/>
            <p:nvPr/>
          </p:nvSpPr>
          <p:spPr>
            <a:xfrm>
              <a:off x="0" y="0"/>
              <a:ext cx="5000993" cy="10163632"/>
            </a:xfrm>
            <a:custGeom>
              <a:rect b="b" l="l" r="r" t="t"/>
              <a:pathLst>
                <a:path extrusionOk="0"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5" r="-45" t="0"/>
              </a:stretch>
            </a:blipFill>
            <a:ln>
              <a:noFill/>
            </a:ln>
          </p:spPr>
        </p:sp>
        <p:sp>
          <p:nvSpPr>
            <p:cNvPr id="477" name="Google Shape;477;p28"/>
            <p:cNvSpPr/>
            <p:nvPr/>
          </p:nvSpPr>
          <p:spPr>
            <a:xfrm>
              <a:off x="338760" y="288798"/>
              <a:ext cx="4330776" cy="9398000"/>
            </a:xfrm>
            <a:custGeom>
              <a:rect b="b" l="l" r="r" t="t"/>
              <a:pathLst>
                <a:path extrusionOk="0"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287" l="0" r="0" t="-287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8" name="Google Shape;478;p28"/>
          <p:cNvSpPr txBox="1"/>
          <p:nvPr/>
        </p:nvSpPr>
        <p:spPr>
          <a:xfrm>
            <a:off x="6179528" y="4611374"/>
            <a:ext cx="9280249" cy="1434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0" u="none" cap="none" strike="noStrike">
                <a:solidFill>
                  <a:srgbClr val="F8F8F8"/>
                </a:solidFill>
                <a:latin typeface="Nunito Sans"/>
                <a:ea typeface="Nunito Sans"/>
                <a:cs typeface="Nunito Sans"/>
                <a:sym typeface="Nunito Sans"/>
              </a:rPr>
              <a:t>THANK YOU!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